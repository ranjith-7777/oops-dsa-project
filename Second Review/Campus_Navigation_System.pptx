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9" r:id="rId4"/>
    <p:sldId id="258" r:id="rId5"/>
    <p:sldId id="260" r:id="rId6"/>
    <p:sldId id="261" r:id="rId7"/>
    <p:sldId id="262" r:id="rId8"/>
    <p:sldId id="263" r:id="rId9"/>
    <p:sldId id="266" r:id="rId10"/>
    <p:sldId id="264" r:id="rId11"/>
    <p:sldId id="265"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993" autoAdjust="0"/>
    <p:restoredTop sz="94660"/>
  </p:normalViewPr>
  <p:slideViewPr>
    <p:cSldViewPr snapToGrid="0">
      <p:cViewPr varScale="1">
        <p:scale>
          <a:sx n="107" d="100"/>
          <a:sy n="107" d="100"/>
        </p:scale>
        <p:origin x="84" y="1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1" name="Freeform 6"/>
          <p:cNvSpPr/>
          <p:nvPr/>
        </p:nvSpPr>
        <p:spPr bwMode="auto">
          <a:xfrm>
            <a:off x="0" y="-3175"/>
            <a:ext cx="12192000" cy="5203825"/>
          </a:xfrm>
          <a:custGeom>
            <a:avLst/>
            <a:gdLst/>
            <a:ahLst/>
            <a:cxnLst/>
            <a:rect l="0" t="0" r="r" b="b"/>
            <a:pathLst>
              <a:path w="5760" h="3278">
                <a:moveTo>
                  <a:pt x="5760" y="0"/>
                </a:moveTo>
                <a:lnTo>
                  <a:pt x="0" y="0"/>
                </a:lnTo>
                <a:lnTo>
                  <a:pt x="0" y="3090"/>
                </a:lnTo>
                <a:lnTo>
                  <a:pt x="943" y="3090"/>
                </a:lnTo>
                <a:lnTo>
                  <a:pt x="1123" y="3270"/>
                </a:lnTo>
                <a:lnTo>
                  <a:pt x="1123" y="3270"/>
                </a:lnTo>
                <a:lnTo>
                  <a:pt x="1127" y="3272"/>
                </a:lnTo>
                <a:lnTo>
                  <a:pt x="1133" y="3275"/>
                </a:lnTo>
                <a:lnTo>
                  <a:pt x="1139" y="3278"/>
                </a:lnTo>
                <a:lnTo>
                  <a:pt x="1144" y="3278"/>
                </a:lnTo>
                <a:lnTo>
                  <a:pt x="1150" y="3278"/>
                </a:lnTo>
                <a:lnTo>
                  <a:pt x="1155" y="3275"/>
                </a:lnTo>
                <a:lnTo>
                  <a:pt x="1161" y="3272"/>
                </a:lnTo>
                <a:lnTo>
                  <a:pt x="1165" y="3270"/>
                </a:lnTo>
                <a:lnTo>
                  <a:pt x="1345" y="3090"/>
                </a:lnTo>
                <a:lnTo>
                  <a:pt x="5760" y="3090"/>
                </a:lnTo>
                <a:lnTo>
                  <a:pt x="5760" y="0"/>
                </a:lnTo>
                <a:close/>
              </a:path>
            </a:pathLst>
          </a:custGeom>
          <a:ln/>
          <a:effectLst/>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810001" y="1449147"/>
            <a:ext cx="10572000" cy="2971051"/>
          </a:xfrm>
        </p:spPr>
        <p:txBody>
          <a:bodyPr/>
          <a:lstStyle>
            <a:lvl1pPr>
              <a:defRPr sz="5400"/>
            </a:lvl1pPr>
          </a:lstStyle>
          <a:p>
            <a:r>
              <a:rPr lang="en-US" smtClean="0"/>
              <a:t>Click to edit Master title style</a:t>
            </a:r>
            <a:endParaRPr lang="en-US" dirty="0"/>
          </a:p>
        </p:txBody>
      </p:sp>
      <p:sp>
        <p:nvSpPr>
          <p:cNvPr id="3" name="Subtitle 2"/>
          <p:cNvSpPr>
            <a:spLocks noGrp="1"/>
          </p:cNvSpPr>
          <p:nvPr>
            <p:ph type="subTitle" idx="1"/>
          </p:nvPr>
        </p:nvSpPr>
        <p:spPr>
          <a:xfrm>
            <a:off x="810001" y="5280847"/>
            <a:ext cx="10572000" cy="434974"/>
          </a:xfrm>
        </p:spPr>
        <p:txBody>
          <a:bodyPr anchor="t"/>
          <a:lstStyle>
            <a:lvl1pPr marL="0" indent="0" algn="l">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08B9EBBA-996F-894A-B54A-D6246ED52CEA}" type="datetimeFigureOut">
              <a:rPr lang="en-US" dirty="0"/>
              <a:pPr/>
              <a:t>3/9/2025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11"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810000" y="447188"/>
            <a:ext cx="10571998" cy="970450"/>
          </a:xfrm>
        </p:spPr>
        <p:txBody>
          <a:bodyPr/>
          <a:lstStyle/>
          <a:p>
            <a:r>
              <a:rPr lang="en-US" smtClean="0"/>
              <a:t>Click to edit Master title style</a:t>
            </a:r>
            <a:endParaRPr lang="en-US" dirty="0"/>
          </a:p>
        </p:txBody>
      </p:sp>
      <p:sp>
        <p:nvSpPr>
          <p:cNvPr id="3" name="Content Placeholder 2"/>
          <p:cNvSpPr>
            <a:spLocks noGrp="1"/>
          </p:cNvSpPr>
          <p:nvPr>
            <p:ph idx="1"/>
          </p:nvPr>
        </p:nvSpPr>
        <p:spPr>
          <a:xfrm>
            <a:off x="818712" y="2222287"/>
            <a:ext cx="10554574" cy="3636511"/>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9B3A1323-8D79-1946-B0D7-40001CF92E9D}" type="datetimeFigureOut">
              <a:rPr lang="en-US" dirty="0"/>
              <a:pPr/>
              <a:t>3/9/2025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10" name="Freeform 7"/>
          <p:cNvSpPr/>
          <p:nvPr/>
        </p:nvSpPr>
        <p:spPr bwMode="auto">
          <a:xfrm>
            <a:off x="0" y="1"/>
            <a:ext cx="12192000" cy="5203825"/>
          </a:xfrm>
          <a:custGeom>
            <a:avLst/>
            <a:gdLst/>
            <a:ahLst/>
            <a:cxnLst/>
            <a:rect l="0" t="0" r="r" b="b"/>
            <a:pathLst>
              <a:path w="5760" h="3278">
                <a:moveTo>
                  <a:pt x="0" y="0"/>
                </a:moveTo>
                <a:lnTo>
                  <a:pt x="5760" y="0"/>
                </a:lnTo>
                <a:lnTo>
                  <a:pt x="5760" y="3090"/>
                </a:lnTo>
                <a:lnTo>
                  <a:pt x="4817" y="3090"/>
                </a:lnTo>
                <a:lnTo>
                  <a:pt x="4637" y="3270"/>
                </a:lnTo>
                <a:lnTo>
                  <a:pt x="4637" y="3270"/>
                </a:lnTo>
                <a:lnTo>
                  <a:pt x="4633" y="3272"/>
                </a:lnTo>
                <a:lnTo>
                  <a:pt x="4627" y="3275"/>
                </a:lnTo>
                <a:lnTo>
                  <a:pt x="4621" y="3278"/>
                </a:lnTo>
                <a:lnTo>
                  <a:pt x="4616" y="3278"/>
                </a:lnTo>
                <a:lnTo>
                  <a:pt x="4610" y="3278"/>
                </a:lnTo>
                <a:lnTo>
                  <a:pt x="4605" y="3275"/>
                </a:lnTo>
                <a:lnTo>
                  <a:pt x="4599" y="3272"/>
                </a:lnTo>
                <a:lnTo>
                  <a:pt x="4595" y="3270"/>
                </a:lnTo>
                <a:lnTo>
                  <a:pt x="4415" y="3090"/>
                </a:lnTo>
                <a:lnTo>
                  <a:pt x="0" y="3090"/>
                </a:lnTo>
                <a:lnTo>
                  <a:pt x="0" y="0"/>
                </a:lnTo>
                <a:lnTo>
                  <a:pt x="0" y="0"/>
                </a:lnTo>
                <a:close/>
              </a:path>
            </a:pathLst>
          </a:custGeom>
          <a:ln>
            <a:headEnd/>
            <a:tailEnd/>
          </a:ln>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810000" y="2951396"/>
            <a:ext cx="10561418" cy="1468800"/>
          </a:xfrm>
        </p:spPr>
        <p:txBody>
          <a:bodyPr anchor="b"/>
          <a:lstStyle>
            <a:lvl1pPr algn="r">
              <a:defRPr sz="4800" b="1" cap="none"/>
            </a:lvl1pPr>
          </a:lstStyle>
          <a:p>
            <a:r>
              <a:rPr lang="en-US" smtClean="0"/>
              <a:t>Click to edit Master title style</a:t>
            </a:r>
            <a:endParaRPr lang="en-US" dirty="0"/>
          </a:p>
        </p:txBody>
      </p:sp>
      <p:sp>
        <p:nvSpPr>
          <p:cNvPr id="3" name="Text Placeholder 2"/>
          <p:cNvSpPr>
            <a:spLocks noGrp="1"/>
          </p:cNvSpPr>
          <p:nvPr>
            <p:ph type="body" idx="1"/>
          </p:nvPr>
        </p:nvSpPr>
        <p:spPr>
          <a:xfrm>
            <a:off x="810000" y="5281201"/>
            <a:ext cx="10561418" cy="433955"/>
          </a:xfrm>
        </p:spPr>
        <p:txBody>
          <a:bodyPr anchor="t">
            <a:no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8DFA1846-DA80-1C48-A609-854EA85C59AD}" type="datetimeFigureOut">
              <a:rPr lang="en-US" dirty="0"/>
              <a:pPr/>
              <a:t>3/9/2025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818712" y="2222287"/>
            <a:ext cx="5185873" cy="3638763"/>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187415" y="2222287"/>
            <a:ext cx="5194583" cy="3638764"/>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57302355-E14B-8545-A8F8-0FE83CC9D524}" type="datetimeFigureOut">
              <a:rPr lang="en-US" dirty="0"/>
              <a:pPr/>
              <a:t>3/9/2025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814728" y="2174875"/>
            <a:ext cx="5189857" cy="576262"/>
          </a:xfrm>
        </p:spPr>
        <p:txBody>
          <a:bodyPr anchor="b">
            <a:noAutofit/>
          </a:bodyPr>
          <a:lstStyle>
            <a:lvl1pPr marL="0" indent="0" algn="ctr">
              <a:buNone/>
              <a:defRPr sz="20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14729" y="2751138"/>
            <a:ext cx="5189856" cy="3109913"/>
          </a:xfrm>
        </p:spPr>
        <p:txBody>
          <a:bodyPr anchor="t">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187415" y="2174875"/>
            <a:ext cx="5194583" cy="576262"/>
          </a:xfrm>
        </p:spPr>
        <p:txBody>
          <a:bodyPr anchor="b">
            <a:noAutofit/>
          </a:bodyPr>
          <a:lstStyle>
            <a:lvl1pPr marL="0" indent="0" algn="ctr">
              <a:buNone/>
              <a:defRPr sz="20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87415" y="2751138"/>
            <a:ext cx="5194583" cy="3109913"/>
          </a:xfrm>
        </p:spPr>
        <p:txBody>
          <a:bodyPr anchor="t">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02640F58-564D-2B4F-AE67-E407BA4FCF45}" type="datetimeFigureOut">
              <a:rPr lang="en-US" dirty="0"/>
              <a:pPr/>
              <a:t>3/9/2025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F13A34C8-038E-2045-AF43-DF7DBB8E0E9E}" type="datetimeFigureOut">
              <a:rPr lang="en-US" dirty="0"/>
              <a:pPr/>
              <a:t>3/9/2025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818C68F-D26B-8F47-958C-23B49CF8A634}" type="datetimeFigureOut">
              <a:rPr lang="en-US" dirty="0"/>
              <a:pPr/>
              <a:t>3/9/2025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12" name="Freeform 6"/>
          <p:cNvSpPr>
            <a:spLocks noChangeAspect="1"/>
          </p:cNvSpPr>
          <p:nvPr/>
        </p:nvSpPr>
        <p:spPr bwMode="auto">
          <a:xfrm>
            <a:off x="1073151" y="446087"/>
            <a:ext cx="3547533" cy="1814651"/>
          </a:xfrm>
          <a:custGeom>
            <a:avLst/>
            <a:gdLst/>
            <a:ahLst/>
            <a:cxnLst/>
            <a:rect l="0" t="0" r="r" b="b"/>
            <a:pathLst>
              <a:path w="3384" h="2308">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1073151" y="446088"/>
            <a:ext cx="3547533" cy="1618396"/>
          </a:xfrm>
        </p:spPr>
        <p:txBody>
          <a:bodyPr anchor="b"/>
          <a:lstStyle>
            <a:lvl1pPr algn="l">
              <a:defRPr sz="2000" b="1"/>
            </a:lvl1pPr>
          </a:lstStyle>
          <a:p>
            <a:r>
              <a:rPr lang="en-US" smtClean="0"/>
              <a:t>Click to edit Master title style</a:t>
            </a:r>
            <a:endParaRPr lang="en-US" dirty="0"/>
          </a:p>
        </p:txBody>
      </p:sp>
      <p:sp>
        <p:nvSpPr>
          <p:cNvPr id="3" name="Content Placeholder 2"/>
          <p:cNvSpPr>
            <a:spLocks noGrp="1"/>
          </p:cNvSpPr>
          <p:nvPr>
            <p:ph idx="1"/>
          </p:nvPr>
        </p:nvSpPr>
        <p:spPr>
          <a:xfrm>
            <a:off x="4855633" y="446088"/>
            <a:ext cx="6252633" cy="5414963"/>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1073151" y="2260738"/>
            <a:ext cx="3547533" cy="3600311"/>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D0DF5E60-9974-AC48-9591-99C2BB44B7CF}" type="datetimeFigureOut">
              <a:rPr lang="en-US" dirty="0"/>
              <a:pPr/>
              <a:t>3/9/2025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14728" y="727522"/>
            <a:ext cx="4852988" cy="1617163"/>
          </a:xfrm>
        </p:spPr>
        <p:txBody>
          <a:bodyPr anchor="b">
            <a:normAutofit/>
          </a:bodyPr>
          <a:lstStyle>
            <a:lvl1pPr algn="l">
              <a:defRPr sz="2400" b="0"/>
            </a:lvl1pPr>
          </a:lstStyle>
          <a:p>
            <a:r>
              <a:rPr lang="en-US" smtClean="0"/>
              <a:t>Click to edit Master title style</a:t>
            </a:r>
            <a:endParaRPr lang="en-US" dirty="0"/>
          </a:p>
        </p:txBody>
      </p:sp>
      <p:sp>
        <p:nvSpPr>
          <p:cNvPr id="9" name="Picture Placeholder 11"/>
          <p:cNvSpPr>
            <a:spLocks noGrp="1" noChangeAspect="1"/>
          </p:cNvSpPr>
          <p:nvPr>
            <p:ph type="pic" sz="quarter" idx="13"/>
          </p:nvPr>
        </p:nvSpPr>
        <p:spPr bwMode="auto">
          <a:xfrm>
            <a:off x="6098117" y="0"/>
            <a:ext cx="6093883" cy="6858000"/>
          </a:xfrm>
          <a:custGeom>
            <a:avLst/>
            <a:gdLst/>
            <a:ahLst/>
            <a:cxnLst/>
            <a:rect l="0" t="0" r="r" b="b"/>
            <a:pathLst>
              <a:path w="2879" h="4320">
                <a:moveTo>
                  <a:pt x="183" y="0"/>
                </a:moveTo>
                <a:lnTo>
                  <a:pt x="183" y="1197"/>
                </a:lnTo>
                <a:lnTo>
                  <a:pt x="8" y="1372"/>
                </a:lnTo>
                <a:lnTo>
                  <a:pt x="8" y="1372"/>
                </a:lnTo>
                <a:lnTo>
                  <a:pt x="6" y="1376"/>
                </a:lnTo>
                <a:lnTo>
                  <a:pt x="3" y="1382"/>
                </a:lnTo>
                <a:lnTo>
                  <a:pt x="0" y="1387"/>
                </a:lnTo>
                <a:lnTo>
                  <a:pt x="0" y="1393"/>
                </a:lnTo>
                <a:lnTo>
                  <a:pt x="0" y="1399"/>
                </a:lnTo>
                <a:lnTo>
                  <a:pt x="3" y="1404"/>
                </a:lnTo>
                <a:lnTo>
                  <a:pt x="6" y="1410"/>
                </a:lnTo>
                <a:lnTo>
                  <a:pt x="8" y="1414"/>
                </a:lnTo>
                <a:lnTo>
                  <a:pt x="183" y="1589"/>
                </a:lnTo>
                <a:lnTo>
                  <a:pt x="183" y="4320"/>
                </a:lnTo>
                <a:lnTo>
                  <a:pt x="2879" y="4320"/>
                </a:lnTo>
                <a:lnTo>
                  <a:pt x="2879" y="0"/>
                </a:lnTo>
                <a:lnTo>
                  <a:pt x="183" y="0"/>
                </a:lnTo>
                <a:close/>
              </a:path>
            </a:pathLst>
          </a:custGeom>
          <a:noFill/>
          <a:ln w="9525">
            <a:solidFill>
              <a:schemeClr val="tx2"/>
            </a:solidFill>
            <a:round/>
            <a:headEnd/>
            <a:tailEnd/>
          </a:ln>
          <a:effectLst/>
        </p:spPr>
        <p:txBody>
          <a:bodyPr wrap="square" numCol="1" anchor="t" anchorCtr="0" compatLnSpc="1">
            <a:prstTxWarp prst="textNoShape">
              <a:avLst/>
            </a:prstTxWarp>
            <a:normAutofit/>
          </a:bodyPr>
          <a:lstStyle>
            <a:lvl1pPr algn="ctr">
              <a:buFontTx/>
              <a:buNone/>
              <a:defRPr sz="1400"/>
            </a:lvl1pPr>
          </a:lstStyle>
          <a:p>
            <a:r>
              <a:rPr lang="en-US" smtClean="0"/>
              <a:t>Click icon to add picture</a:t>
            </a:r>
            <a:endParaRPr lang="en-US" dirty="0"/>
          </a:p>
        </p:txBody>
      </p:sp>
      <p:sp>
        <p:nvSpPr>
          <p:cNvPr id="4" name="Text Placeholder 3"/>
          <p:cNvSpPr>
            <a:spLocks noGrp="1"/>
          </p:cNvSpPr>
          <p:nvPr>
            <p:ph type="body" sz="half" idx="2"/>
          </p:nvPr>
        </p:nvSpPr>
        <p:spPr>
          <a:xfrm>
            <a:off x="814728" y="2344684"/>
            <a:ext cx="4852988" cy="3516365"/>
          </a:xfrm>
        </p:spPr>
        <p:txBody>
          <a:bodyPr anchor="t">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a:xfrm>
            <a:off x="3885810" y="6041362"/>
            <a:ext cx="976879" cy="365125"/>
          </a:xfrm>
        </p:spPr>
        <p:txBody>
          <a:bodyPr/>
          <a:lstStyle/>
          <a:p>
            <a:fld id="{18C79C5D-2A6F-F04D-97DA-BEF2467B64E4}" type="datetimeFigureOut">
              <a:rPr lang="en-US" dirty="0"/>
              <a:pPr/>
              <a:t>3/9/2025</a:t>
            </a:fld>
            <a:endParaRPr lang="en-US" dirty="0"/>
          </a:p>
        </p:txBody>
      </p:sp>
      <p:sp>
        <p:nvSpPr>
          <p:cNvPr id="6" name="Footer Placeholder 5"/>
          <p:cNvSpPr>
            <a:spLocks noGrp="1"/>
          </p:cNvSpPr>
          <p:nvPr>
            <p:ph type="ftr" sz="quarter" idx="11"/>
          </p:nvPr>
        </p:nvSpPr>
        <p:spPr>
          <a:xfrm>
            <a:off x="590396" y="6041362"/>
            <a:ext cx="3295413" cy="365125"/>
          </a:xfrm>
        </p:spPr>
        <p:txBody>
          <a:bodyPr/>
          <a:lstStyle/>
          <a:p>
            <a:endParaRPr lang="en-US" dirty="0"/>
          </a:p>
        </p:txBody>
      </p:sp>
      <p:sp>
        <p:nvSpPr>
          <p:cNvPr id="7" name="Slide Number Placeholder 6"/>
          <p:cNvSpPr>
            <a:spLocks noGrp="1"/>
          </p:cNvSpPr>
          <p:nvPr>
            <p:ph type="sldNum" sz="quarter" idx="12"/>
          </p:nvPr>
        </p:nvSpPr>
        <p:spPr>
          <a:xfrm>
            <a:off x="4862689" y="5915888"/>
            <a:ext cx="1062155" cy="490599"/>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10000" y="4800600"/>
            <a:ext cx="10561418" cy="566738"/>
          </a:xfrm>
        </p:spPr>
        <p:txBody>
          <a:bodyPr anchor="b">
            <a:normAutofit/>
          </a:bodyPr>
          <a:lstStyle>
            <a:lvl1pPr algn="l">
              <a:defRPr sz="2400" b="0"/>
            </a:lvl1pPr>
          </a:lstStyle>
          <a:p>
            <a:r>
              <a:rPr lang="en-US" smtClean="0"/>
              <a:t>Click to edit Master title style</a:t>
            </a:r>
            <a:endParaRPr lang="en-US" dirty="0"/>
          </a:p>
        </p:txBody>
      </p:sp>
      <p:sp>
        <p:nvSpPr>
          <p:cNvPr id="15" name="Picture Placeholder 14"/>
          <p:cNvSpPr>
            <a:spLocks noGrp="1" noChangeAspect="1"/>
          </p:cNvSpPr>
          <p:nvPr>
            <p:ph type="pic" sz="quarter" idx="13"/>
          </p:nvPr>
        </p:nvSpPr>
        <p:spPr bwMode="auto">
          <a:xfrm>
            <a:off x="0" y="0"/>
            <a:ext cx="12192000" cy="4800600"/>
          </a:xfrm>
          <a:custGeom>
            <a:avLst/>
            <a:gdLst/>
            <a:ahLst/>
            <a:cxnLst/>
            <a:rect l="0" t="0" r="r" b="b"/>
            <a:pathLst>
              <a:path w="5760" h="3289">
                <a:moveTo>
                  <a:pt x="5760" y="0"/>
                </a:moveTo>
                <a:lnTo>
                  <a:pt x="0" y="0"/>
                </a:lnTo>
                <a:lnTo>
                  <a:pt x="0" y="3100"/>
                </a:lnTo>
                <a:lnTo>
                  <a:pt x="943" y="3100"/>
                </a:lnTo>
                <a:lnTo>
                  <a:pt x="1123" y="3281"/>
                </a:lnTo>
                <a:lnTo>
                  <a:pt x="1123" y="3281"/>
                </a:lnTo>
                <a:lnTo>
                  <a:pt x="1127" y="3283"/>
                </a:lnTo>
                <a:lnTo>
                  <a:pt x="1133" y="3286"/>
                </a:lnTo>
                <a:lnTo>
                  <a:pt x="1139" y="3289"/>
                </a:lnTo>
                <a:lnTo>
                  <a:pt x="1144" y="3289"/>
                </a:lnTo>
                <a:lnTo>
                  <a:pt x="1150" y="3289"/>
                </a:lnTo>
                <a:lnTo>
                  <a:pt x="1155" y="3286"/>
                </a:lnTo>
                <a:lnTo>
                  <a:pt x="1161" y="3283"/>
                </a:lnTo>
                <a:lnTo>
                  <a:pt x="1165" y="3281"/>
                </a:lnTo>
                <a:lnTo>
                  <a:pt x="1345" y="3100"/>
                </a:lnTo>
                <a:lnTo>
                  <a:pt x="5760" y="3100"/>
                </a:lnTo>
                <a:lnTo>
                  <a:pt x="5760" y="0"/>
                </a:lnTo>
                <a:close/>
              </a:path>
            </a:pathLst>
          </a:custGeom>
          <a:noFill/>
          <a:ln>
            <a:solidFill>
              <a:schemeClr val="tx2"/>
            </a:solidFill>
          </a:ln>
        </p:spPr>
        <p:style>
          <a:lnRef idx="1">
            <a:schemeClr val="accent1"/>
          </a:lnRef>
          <a:fillRef idx="3">
            <a:schemeClr val="accent1"/>
          </a:fillRef>
          <a:effectRef idx="2">
            <a:schemeClr val="accent1"/>
          </a:effectRef>
          <a:fontRef idx="minor">
            <a:schemeClr val="lt1"/>
          </a:fontRef>
        </p:style>
        <p:txBody>
          <a:bodyPr wrap="square" numCol="1" anchor="t" anchorCtr="0" compatLnSpc="1">
            <a:prstTxWarp prst="textNoShape">
              <a:avLst/>
            </a:prstTxWarp>
            <a:normAutofit/>
          </a:bodyPr>
          <a:lstStyle>
            <a:lvl1pPr marL="0" indent="0" algn="ctr">
              <a:buFontTx/>
              <a:buNone/>
              <a:defRPr sz="1600"/>
            </a:lvl1pPr>
          </a:lstStyle>
          <a:p>
            <a:r>
              <a:rPr lang="en-US" smtClean="0"/>
              <a:t>Click icon to add picture</a:t>
            </a:r>
            <a:endParaRPr lang="en-US" dirty="0"/>
          </a:p>
        </p:txBody>
      </p:sp>
      <p:sp>
        <p:nvSpPr>
          <p:cNvPr id="4" name="Text Placeholder 3"/>
          <p:cNvSpPr>
            <a:spLocks noGrp="1"/>
          </p:cNvSpPr>
          <p:nvPr>
            <p:ph type="body" sz="half" idx="2"/>
          </p:nvPr>
        </p:nvSpPr>
        <p:spPr>
          <a:xfrm>
            <a:off x="810000" y="5367338"/>
            <a:ext cx="10561418"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18C79C5D-2A6F-F04D-97DA-BEF2467B64E4}" type="datetimeFigureOut">
              <a:rPr lang="en-US" dirty="0"/>
              <a:pPr/>
              <a:t>3/9/2025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8" name="Freeform 6"/>
          <p:cNvSpPr>
            <a:spLocks noChangeAspect="1"/>
          </p:cNvSpPr>
          <p:nvPr/>
        </p:nvSpPr>
        <p:spPr bwMode="auto">
          <a:xfrm>
            <a:off x="631697" y="1081456"/>
            <a:ext cx="6332416" cy="3239188"/>
          </a:xfrm>
          <a:custGeom>
            <a:avLst/>
            <a:gdLst/>
            <a:ahLst/>
            <a:cxnLst/>
            <a:rect l="0" t="0" r="r" b="b"/>
            <a:pathLst>
              <a:path w="3384" h="2308">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ln>
            <a:solidFill>
              <a:schemeClr val="accent1"/>
            </a:solidFill>
          </a:ln>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850985" y="1238502"/>
            <a:ext cx="5893840" cy="2645912"/>
          </a:xfrm>
        </p:spPr>
        <p:txBody>
          <a:bodyPr anchor="b"/>
          <a:lstStyle>
            <a:lvl1pPr algn="l">
              <a:defRPr sz="4200" b="1" cap="none"/>
            </a:lvl1pPr>
          </a:lstStyle>
          <a:p>
            <a:r>
              <a:rPr lang="en-US" smtClean="0"/>
              <a:t>Click to edit Master title style</a:t>
            </a:r>
            <a:endParaRPr lang="en-US" dirty="0"/>
          </a:p>
        </p:txBody>
      </p:sp>
      <p:sp>
        <p:nvSpPr>
          <p:cNvPr id="3" name="Text Placeholder 2"/>
          <p:cNvSpPr>
            <a:spLocks noGrp="1"/>
          </p:cNvSpPr>
          <p:nvPr>
            <p:ph type="body" idx="1"/>
          </p:nvPr>
        </p:nvSpPr>
        <p:spPr>
          <a:xfrm>
            <a:off x="853190" y="4443680"/>
            <a:ext cx="5891636" cy="713241"/>
          </a:xfrm>
        </p:spPr>
        <p:txBody>
          <a:bodyPr anchor="t">
            <a:no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9" name="Text Placeholder 5"/>
          <p:cNvSpPr>
            <a:spLocks noGrp="1"/>
          </p:cNvSpPr>
          <p:nvPr>
            <p:ph type="body" sz="quarter" idx="16"/>
          </p:nvPr>
        </p:nvSpPr>
        <p:spPr>
          <a:xfrm>
            <a:off x="7574642" y="1081456"/>
            <a:ext cx="3810001" cy="4075465"/>
          </a:xfrm>
        </p:spPr>
        <p:txBody>
          <a:bodyPr anchor="t"/>
          <a:lstStyle>
            <a:lvl1pPr marL="0" indent="0">
              <a:buFontTx/>
              <a:buNone/>
              <a:defRPr/>
            </a:lvl1pPr>
          </a:lstStyle>
          <a:p>
            <a:pPr lvl="0"/>
            <a:r>
              <a:rPr lang="en-US" smtClean="0"/>
              <a:t>Edit Master text styles</a:t>
            </a:r>
          </a:p>
        </p:txBody>
      </p:sp>
      <p:sp>
        <p:nvSpPr>
          <p:cNvPr id="4" name="Date Placeholder 3"/>
          <p:cNvSpPr>
            <a:spLocks noGrp="1"/>
          </p:cNvSpPr>
          <p:nvPr>
            <p:ph type="dt" sz="half" idx="10"/>
          </p:nvPr>
        </p:nvSpPr>
        <p:spPr/>
        <p:txBody>
          <a:bodyPr/>
          <a:lstStyle/>
          <a:p>
            <a:fld id="{8DFA1846-DA80-1C48-A609-854EA85C59AD}" type="datetimeFigureOut">
              <a:rPr lang="en-US" dirty="0"/>
              <a:pPr/>
              <a:t>3/9/2025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9" name="Freeform 6"/>
          <p:cNvSpPr>
            <a:spLocks noChangeAspect="1"/>
          </p:cNvSpPr>
          <p:nvPr/>
        </p:nvSpPr>
        <p:spPr bwMode="auto">
          <a:xfrm>
            <a:off x="1140884" y="2286585"/>
            <a:ext cx="4895115" cy="2503972"/>
          </a:xfrm>
          <a:custGeom>
            <a:avLst/>
            <a:gdLst/>
            <a:ahLst/>
            <a:cxnLst/>
            <a:rect l="0" t="0" r="r" b="b"/>
            <a:pathLst>
              <a:path w="3384" h="2308">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ln>
            <a:solidFill>
              <a:schemeClr val="accent1"/>
            </a:solidFill>
          </a:ln>
        </p:spPr>
        <p:style>
          <a:lnRef idx="1">
            <a:schemeClr val="accent1"/>
          </a:lnRef>
          <a:fillRef idx="3">
            <a:schemeClr val="accent1"/>
          </a:fillRef>
          <a:effectRef idx="2">
            <a:schemeClr val="accent1"/>
          </a:effectRef>
          <a:fontRef idx="minor">
            <a:schemeClr val="lt1"/>
          </a:fontRef>
        </p:style>
      </p:sp>
      <p:sp>
        <p:nvSpPr>
          <p:cNvPr id="38" name="Title 1"/>
          <p:cNvSpPr>
            <a:spLocks noGrp="1"/>
          </p:cNvSpPr>
          <p:nvPr>
            <p:ph type="title"/>
          </p:nvPr>
        </p:nvSpPr>
        <p:spPr>
          <a:xfrm>
            <a:off x="1357089" y="2435957"/>
            <a:ext cx="4382521" cy="2007789"/>
          </a:xfrm>
        </p:spPr>
        <p:txBody>
          <a:bodyPr/>
          <a:lstStyle>
            <a:lvl1pPr>
              <a:defRPr sz="3200"/>
            </a:lvl1pPr>
          </a:lstStyle>
          <a:p>
            <a:r>
              <a:rPr lang="en-US" smtClean="0"/>
              <a:t>Click to edit Master title style</a:t>
            </a:r>
            <a:endParaRPr lang="en-US" dirty="0"/>
          </a:p>
        </p:txBody>
      </p:sp>
      <p:sp>
        <p:nvSpPr>
          <p:cNvPr id="6" name="Text Placeholder 5"/>
          <p:cNvSpPr>
            <a:spLocks noGrp="1"/>
          </p:cNvSpPr>
          <p:nvPr>
            <p:ph type="body" sz="quarter" idx="16"/>
          </p:nvPr>
        </p:nvSpPr>
        <p:spPr>
          <a:xfrm>
            <a:off x="6156000" y="2286000"/>
            <a:ext cx="4880300" cy="2295525"/>
          </a:xfrm>
        </p:spPr>
        <p:txBody>
          <a:bodyPr anchor="t"/>
          <a:lstStyle>
            <a:lvl1pPr marL="0" indent="0">
              <a:buFontTx/>
              <a:buNone/>
              <a:defRPr/>
            </a:lvl1pPr>
          </a:lstStyle>
          <a:p>
            <a:pPr lvl="0"/>
            <a:r>
              <a:rPr lang="en-US" smtClean="0"/>
              <a:t>Edit Master text styles</a:t>
            </a:r>
          </a:p>
        </p:txBody>
      </p:sp>
      <p:sp>
        <p:nvSpPr>
          <p:cNvPr id="2" name="Date Placeholder 1"/>
          <p:cNvSpPr>
            <a:spLocks noGrp="1"/>
          </p:cNvSpPr>
          <p:nvPr>
            <p:ph type="dt" sz="half" idx="10"/>
          </p:nvPr>
        </p:nvSpPr>
        <p:spPr/>
        <p:txBody>
          <a:bodyPr/>
          <a:lstStyle/>
          <a:p>
            <a:fld id="{FBF54567-0DE4-3F47-BF90-CB84690072F9}" type="datetimeFigureOut">
              <a:rPr lang="en-US" dirty="0"/>
              <a:pPr/>
              <a:t>3/9/2025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7"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C6C52C72-DE31-F449-A4ED-4C594FD91407}" type="datetimeFigureOut">
              <a:rPr lang="en-US" dirty="0"/>
              <a:pPr/>
              <a:t>3/9/2025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12" name="Freeform 6"/>
          <p:cNvSpPr>
            <a:spLocks noChangeAspect="1"/>
          </p:cNvSpPr>
          <p:nvPr/>
        </p:nvSpPr>
        <p:spPr bwMode="auto">
          <a:xfrm>
            <a:off x="7669651" y="446089"/>
            <a:ext cx="4522349" cy="5414962"/>
          </a:xfrm>
          <a:custGeom>
            <a:avLst/>
            <a:gdLst/>
            <a:ahLst/>
            <a:cxnLst/>
            <a:rect l="0" t="0" r="r" b="b"/>
            <a:pathLst>
              <a:path w="2879" h="4320">
                <a:moveTo>
                  <a:pt x="183" y="0"/>
                </a:moveTo>
                <a:lnTo>
                  <a:pt x="183" y="1197"/>
                </a:lnTo>
                <a:lnTo>
                  <a:pt x="8" y="1372"/>
                </a:lnTo>
                <a:lnTo>
                  <a:pt x="8" y="1372"/>
                </a:lnTo>
                <a:lnTo>
                  <a:pt x="6" y="1376"/>
                </a:lnTo>
                <a:lnTo>
                  <a:pt x="3" y="1382"/>
                </a:lnTo>
                <a:lnTo>
                  <a:pt x="0" y="1387"/>
                </a:lnTo>
                <a:lnTo>
                  <a:pt x="0" y="1393"/>
                </a:lnTo>
                <a:lnTo>
                  <a:pt x="0" y="1399"/>
                </a:lnTo>
                <a:lnTo>
                  <a:pt x="3" y="1404"/>
                </a:lnTo>
                <a:lnTo>
                  <a:pt x="6" y="1410"/>
                </a:lnTo>
                <a:lnTo>
                  <a:pt x="8" y="1414"/>
                </a:lnTo>
                <a:lnTo>
                  <a:pt x="183" y="1589"/>
                </a:lnTo>
                <a:lnTo>
                  <a:pt x="183" y="4320"/>
                </a:lnTo>
                <a:lnTo>
                  <a:pt x="2879" y="4320"/>
                </a:lnTo>
                <a:lnTo>
                  <a:pt x="2879" y="0"/>
                </a:lnTo>
                <a:lnTo>
                  <a:pt x="183"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183540" y="586171"/>
            <a:ext cx="2494791" cy="5134798"/>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810001" y="446089"/>
            <a:ext cx="6611540" cy="5414962"/>
          </a:xfrm>
        </p:spPr>
        <p:txBody>
          <a:bodyPr vert="eaVert" ancho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ED62726E-379B-B349-9EED-81ED093FA806}" type="datetimeFigureOut">
              <a:rPr lang="en-US" dirty="0"/>
              <a:pPr/>
              <a:t>3/9/2025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0000" y="447188"/>
            <a:ext cx="10571998" cy="970450"/>
          </a:xfrm>
          <a:prstGeom prst="rect">
            <a:avLst/>
          </a:prstGeom>
          <a:effectLst>
            <a:outerShdw blurRad="50800" dir="14400000">
              <a:srgbClr val="000000">
                <a:alpha val="60000"/>
              </a:srgbClr>
            </a:outerShdw>
          </a:effectLst>
        </p:spPr>
        <p:txBody>
          <a:bodyPr vert="horz" lIns="91440" tIns="45720" rIns="91440" bIns="45720" rtlCol="0" anchor="b">
            <a:noAutofit/>
          </a:bodyPr>
          <a:lstStyle/>
          <a:p>
            <a:r>
              <a:rPr lang="en-US" smtClean="0"/>
              <a:t>Click to edit Master title style</a:t>
            </a:r>
            <a:endParaRPr lang="en-US" dirty="0"/>
          </a:p>
        </p:txBody>
      </p:sp>
      <p:sp>
        <p:nvSpPr>
          <p:cNvPr id="3" name="Text Placeholder 2"/>
          <p:cNvSpPr>
            <a:spLocks noGrp="1"/>
          </p:cNvSpPr>
          <p:nvPr>
            <p:ph type="body" idx="1"/>
          </p:nvPr>
        </p:nvSpPr>
        <p:spPr>
          <a:xfrm>
            <a:off x="810000" y="2184401"/>
            <a:ext cx="10563285" cy="3674397"/>
          </a:xfrm>
          <a:prstGeom prst="rect">
            <a:avLst/>
          </a:prstGeom>
          <a:effectLst>
            <a:outerShdw blurRad="50800" dir="14400000">
              <a:srgbClr val="000000">
                <a:alpha val="40000"/>
              </a:srgbClr>
            </a:outerShdw>
          </a:effectLst>
        </p:spPr>
        <p:txBody>
          <a:bodyPr vert="horz" lIns="91440" tIns="45720" rIns="91440" bIns="45720" rtlCol="0" anchor="ct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Footer Placeholder 4"/>
          <p:cNvSpPr>
            <a:spLocks noGrp="1"/>
          </p:cNvSpPr>
          <p:nvPr>
            <p:ph type="ftr" sz="quarter" idx="3"/>
          </p:nvPr>
        </p:nvSpPr>
        <p:spPr>
          <a:xfrm>
            <a:off x="451514" y="6041362"/>
            <a:ext cx="8644320" cy="365125"/>
          </a:xfrm>
          <a:prstGeom prst="rect">
            <a:avLst/>
          </a:prstGeom>
        </p:spPr>
        <p:txBody>
          <a:bodyPr vert="horz" lIns="91440" tIns="45720" rIns="91440" bIns="45720" rtlCol="0" anchor="b"/>
          <a:lstStyle>
            <a:lvl1pPr algn="l">
              <a:defRPr sz="900">
                <a:solidFill>
                  <a:schemeClr val="tx1"/>
                </a:solidFill>
              </a:defRPr>
            </a:lvl1pPr>
          </a:lstStyle>
          <a:p>
            <a:endParaRPr lang="en-US" dirty="0"/>
          </a:p>
        </p:txBody>
      </p:sp>
      <p:sp>
        <p:nvSpPr>
          <p:cNvPr id="4" name="Date Placeholder 3"/>
          <p:cNvSpPr>
            <a:spLocks noGrp="1"/>
          </p:cNvSpPr>
          <p:nvPr>
            <p:ph type="dt" sz="half" idx="2"/>
          </p:nvPr>
        </p:nvSpPr>
        <p:spPr>
          <a:xfrm>
            <a:off x="9334626" y="6041362"/>
            <a:ext cx="1343706" cy="365125"/>
          </a:xfrm>
          <a:prstGeom prst="rect">
            <a:avLst/>
          </a:prstGeom>
        </p:spPr>
        <p:txBody>
          <a:bodyPr vert="horz" lIns="91440" tIns="45720" rIns="91440" bIns="45720" rtlCol="0" anchor="b"/>
          <a:lstStyle>
            <a:lvl1pPr algn="r">
              <a:defRPr sz="900">
                <a:solidFill>
                  <a:schemeClr val="tx1"/>
                </a:solidFill>
              </a:defRPr>
            </a:lvl1pPr>
          </a:lstStyle>
          <a:p>
            <a:fld id="{09B482E8-6E0E-1B4F-B1FD-C69DB9E858D9}" type="datetimeFigureOut">
              <a:rPr lang="en-US" dirty="0"/>
              <a:pPr/>
              <a:t>3/9/2025</a:t>
            </a:fld>
            <a:endParaRPr lang="en-US" dirty="0"/>
          </a:p>
        </p:txBody>
      </p:sp>
      <p:sp>
        <p:nvSpPr>
          <p:cNvPr id="6" name="Slide Number Placeholder 5"/>
          <p:cNvSpPr>
            <a:spLocks noGrp="1"/>
          </p:cNvSpPr>
          <p:nvPr>
            <p:ph type="sldNum" sz="quarter" idx="4"/>
          </p:nvPr>
        </p:nvSpPr>
        <p:spPr>
          <a:xfrm>
            <a:off x="10678331" y="5915888"/>
            <a:ext cx="1062155" cy="490599"/>
          </a:xfrm>
          <a:prstGeom prst="rect">
            <a:avLst/>
          </a:prstGeom>
        </p:spPr>
        <p:txBody>
          <a:bodyPr vert="horz" lIns="91440" tIns="45720" rIns="91440" bIns="10800" rtlCol="0" anchor="b"/>
          <a:lstStyle>
            <a:lvl1pPr algn="r">
              <a:defRPr sz="2000">
                <a:solidFill>
                  <a:schemeClr val="accent1"/>
                </a:solidFill>
              </a:defRPr>
            </a:lvl1pPr>
          </a:lstStyle>
          <a:p>
            <a:fld id="{D57F1E4F-1CFF-5643-939E-217C01CDF565}" type="slidenum">
              <a:rPr lang="en-US" dirty="0"/>
              <a:pPr/>
              <a:t>‹#›</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63" r:id="rId9"/>
    <p:sldLayoutId id="2147483657" r:id="rId10"/>
    <p:sldLayoutId id="2147483666" r:id="rId11"/>
    <p:sldLayoutId id="2147483661" r:id="rId12"/>
    <p:sldLayoutId id="2147483658" r:id="rId13"/>
    <p:sldLayoutId id="2147483659" r:id="rId14"/>
  </p:sldLayoutIdLst>
  <p:hf sldNum="0" hdr="0" ftr="0" dt="0"/>
  <p:txStyles>
    <p:titleStyle>
      <a:lvl1pPr algn="l" defTabSz="457200" rtl="0" eaLnBrk="1" latinLnBrk="0" hangingPunct="1">
        <a:spcBef>
          <a:spcPct val="0"/>
        </a:spcBef>
        <a:buNone/>
        <a:defRPr sz="4000" b="1" kern="1200">
          <a:solidFill>
            <a:srgbClr val="FEFEFE"/>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ct val="20000"/>
        </a:spcBef>
        <a:spcAft>
          <a:spcPts val="600"/>
        </a:spcAft>
        <a:buClr>
          <a:schemeClr val="accent1"/>
        </a:buClr>
        <a:buFont typeface="Wingdings 2" charset="2"/>
        <a:buChar char=""/>
        <a:defRPr sz="1800" kern="1200">
          <a:solidFill>
            <a:schemeClr val="tx1"/>
          </a:solidFill>
          <a:latin typeface="+mn-lt"/>
          <a:ea typeface="+mn-ea"/>
          <a:cs typeface="+mn-cs"/>
        </a:defRPr>
      </a:lvl1pPr>
      <a:lvl2pPr marL="742950" indent="-285750" algn="l" defTabSz="457200" rtl="0" eaLnBrk="1" latinLnBrk="0" hangingPunct="1">
        <a:spcBef>
          <a:spcPct val="20000"/>
        </a:spcBef>
        <a:spcAft>
          <a:spcPts val="600"/>
        </a:spcAft>
        <a:buClr>
          <a:schemeClr val="accent1"/>
        </a:buClr>
        <a:buFont typeface="Wingdings 2" charset="2"/>
        <a:buChar char=""/>
        <a:defRPr sz="1600" kern="1200">
          <a:solidFill>
            <a:schemeClr val="tx1"/>
          </a:solidFill>
          <a:latin typeface="+mn-lt"/>
          <a:ea typeface="+mn-ea"/>
          <a:cs typeface="+mn-cs"/>
        </a:defRPr>
      </a:lvl2pPr>
      <a:lvl3pPr marL="1143000" indent="-228600" algn="l" defTabSz="457200" rtl="0" eaLnBrk="1" latinLnBrk="0" hangingPunct="1">
        <a:spcBef>
          <a:spcPct val="20000"/>
        </a:spcBef>
        <a:spcAft>
          <a:spcPts val="600"/>
        </a:spcAft>
        <a:buClr>
          <a:schemeClr val="accent1"/>
        </a:buClr>
        <a:buFont typeface="Wingdings 2" charset="2"/>
        <a:buChar char=""/>
        <a:defRPr sz="1400" kern="1200">
          <a:solidFill>
            <a:schemeClr val="tx1"/>
          </a:solidFill>
          <a:latin typeface="+mn-lt"/>
          <a:ea typeface="+mn-ea"/>
          <a:cs typeface="+mn-cs"/>
        </a:defRPr>
      </a:lvl3pPr>
      <a:lvl4pPr marL="16002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4pPr>
      <a:lvl5pPr marL="20574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5pPr>
      <a:lvl6pPr marL="24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6pPr>
      <a:lvl7pPr marL="28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7pPr>
      <a:lvl8pPr marL="32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8pPr>
      <a:lvl9pPr marL="36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hyperlink" Target="https://drive.google.com/file/d/1cFNBhLH_nK21HTW_GGuLuziBVs8_nEQe/view" TargetMode="Externa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10001" y="1674783"/>
            <a:ext cx="10572000" cy="2971051"/>
          </a:xfrm>
        </p:spPr>
        <p:txBody>
          <a:bodyPr/>
          <a:lstStyle/>
          <a:p>
            <a:pPr algn="ctr"/>
            <a:r>
              <a:rPr lang="en-IN" sz="9600" dirty="0" smtClean="0"/>
              <a:t>CAMPUS NAVIGATION SYSTEM</a:t>
            </a:r>
            <a:endParaRPr lang="en-IN" sz="9600" dirty="0"/>
          </a:p>
        </p:txBody>
      </p:sp>
      <p:sp>
        <p:nvSpPr>
          <p:cNvPr id="3" name="Subtitle 2"/>
          <p:cNvSpPr>
            <a:spLocks noGrp="1"/>
          </p:cNvSpPr>
          <p:nvPr>
            <p:ph type="subTitle" idx="1"/>
          </p:nvPr>
        </p:nvSpPr>
        <p:spPr>
          <a:xfrm>
            <a:off x="8769928" y="4975761"/>
            <a:ext cx="3360716" cy="1721922"/>
          </a:xfrm>
          <a:solidFill>
            <a:schemeClr val="dk1">
              <a:alpha val="50000"/>
            </a:schemeClr>
          </a:solidFill>
          <a:ln>
            <a:noFill/>
          </a:ln>
        </p:spPr>
        <p:style>
          <a:lnRef idx="0">
            <a:scrgbClr r="0" g="0" b="0"/>
          </a:lnRef>
          <a:fillRef idx="0">
            <a:scrgbClr r="0" g="0" b="0"/>
          </a:fillRef>
          <a:effectRef idx="0">
            <a:scrgbClr r="0" g="0" b="0"/>
          </a:effectRef>
          <a:fontRef idx="minor">
            <a:schemeClr val="lt1"/>
          </a:fontRef>
        </p:style>
        <p:txBody>
          <a:bodyPr>
            <a:normAutofit/>
          </a:bodyPr>
          <a:lstStyle/>
          <a:p>
            <a:r>
              <a:rPr lang="en-IN" b="1" dirty="0" smtClean="0"/>
              <a:t>Team C1</a:t>
            </a:r>
          </a:p>
          <a:p>
            <a:pPr marL="285750" indent="-285750">
              <a:buFont typeface="Wingdings" panose="05000000000000000000" pitchFamily="2" charset="2"/>
              <a:buChar char="Ø"/>
            </a:pPr>
            <a:r>
              <a:rPr lang="en-IN" b="1" dirty="0" err="1" smtClean="0"/>
              <a:t>Advaith</a:t>
            </a:r>
            <a:r>
              <a:rPr lang="en-IN" b="1" dirty="0" smtClean="0"/>
              <a:t> Krishna(203)</a:t>
            </a:r>
          </a:p>
          <a:p>
            <a:pPr marL="285750" indent="-285750">
              <a:buFont typeface="Wingdings" panose="05000000000000000000" pitchFamily="2" charset="2"/>
              <a:buChar char="Ø"/>
            </a:pPr>
            <a:r>
              <a:rPr lang="en-IN" b="1" dirty="0" err="1" smtClean="0"/>
              <a:t>Amudala</a:t>
            </a:r>
            <a:r>
              <a:rPr lang="en-IN" b="1" dirty="0" smtClean="0"/>
              <a:t> </a:t>
            </a:r>
            <a:r>
              <a:rPr lang="en-IN" b="1" dirty="0" err="1" smtClean="0"/>
              <a:t>Jashwanth</a:t>
            </a:r>
            <a:r>
              <a:rPr lang="en-IN" b="1" dirty="0" smtClean="0"/>
              <a:t> (204)</a:t>
            </a:r>
          </a:p>
          <a:p>
            <a:pPr marL="285750" indent="-285750">
              <a:buFont typeface="Wingdings" panose="05000000000000000000" pitchFamily="2" charset="2"/>
              <a:buChar char="Ø"/>
            </a:pPr>
            <a:r>
              <a:rPr lang="en-IN" b="1" dirty="0" smtClean="0"/>
              <a:t>Ranjith Raja B (250)</a:t>
            </a:r>
          </a:p>
          <a:p>
            <a:endParaRPr lang="en-IN" b="1" dirty="0"/>
          </a:p>
        </p:txBody>
      </p:sp>
    </p:spTree>
    <p:extLst>
      <p:ext uri="{BB962C8B-B14F-4D97-AF65-F5344CB8AC3E}">
        <p14:creationId xmlns:p14="http://schemas.microsoft.com/office/powerpoint/2010/main" val="3401140517"/>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INTRODUCTION</a:t>
            </a:r>
            <a:endParaRPr lang="en-IN" dirty="0"/>
          </a:p>
        </p:txBody>
      </p:sp>
      <p:sp>
        <p:nvSpPr>
          <p:cNvPr id="5" name="TextBox 4"/>
          <p:cNvSpPr txBox="1"/>
          <p:nvPr/>
        </p:nvSpPr>
        <p:spPr>
          <a:xfrm>
            <a:off x="534390" y="2179125"/>
            <a:ext cx="11204368" cy="5016758"/>
          </a:xfrm>
          <a:prstGeom prst="rect">
            <a:avLst/>
          </a:prstGeom>
          <a:noFill/>
        </p:spPr>
        <p:txBody>
          <a:bodyPr wrap="square" rtlCol="0">
            <a:spAutoFit/>
          </a:bodyPr>
          <a:lstStyle/>
          <a:p>
            <a:r>
              <a:rPr lang="en-US" sz="3200" b="1" dirty="0" smtClean="0"/>
              <a:t>Recap of what a CNS is:</a:t>
            </a:r>
          </a:p>
          <a:p>
            <a:pPr marL="285750" indent="-285750">
              <a:buFont typeface="Wingdings" panose="05000000000000000000" pitchFamily="2" charset="2"/>
              <a:buChar char="Ø"/>
            </a:pPr>
            <a:r>
              <a:rPr lang="en-US" sz="3200" dirty="0" smtClean="0"/>
              <a:t> A </a:t>
            </a:r>
            <a:r>
              <a:rPr lang="en-US" sz="3200" dirty="0"/>
              <a:t>digital solution to help students, faculty, and visitors </a:t>
            </a:r>
            <a:r>
              <a:rPr lang="en-US" sz="3200" dirty="0" smtClean="0"/>
              <a:t> </a:t>
            </a:r>
          </a:p>
          <a:p>
            <a:r>
              <a:rPr lang="en-US" sz="3200" dirty="0"/>
              <a:t> </a:t>
            </a:r>
            <a:r>
              <a:rPr lang="en-US" sz="3200" dirty="0" smtClean="0"/>
              <a:t>   navigate </a:t>
            </a:r>
            <a:r>
              <a:rPr lang="en-US" sz="3200" dirty="0"/>
              <a:t>the campus efficiently</a:t>
            </a:r>
            <a:r>
              <a:rPr lang="en-US" sz="3200" dirty="0" smtClean="0"/>
              <a:t>.</a:t>
            </a:r>
          </a:p>
          <a:p>
            <a:pPr marL="457200" indent="-457200">
              <a:buFont typeface="Wingdings" panose="05000000000000000000" pitchFamily="2" charset="2"/>
              <a:buChar char="Ø"/>
            </a:pPr>
            <a:r>
              <a:rPr lang="en-US" sz="3200" dirty="0"/>
              <a:t>Uses graph-based modelling where buildings are nodes and pathways are edges.</a:t>
            </a:r>
          </a:p>
          <a:p>
            <a:pPr marL="457200" indent="-457200">
              <a:buFont typeface="Wingdings" panose="05000000000000000000" pitchFamily="2" charset="2"/>
              <a:buChar char="Ø"/>
            </a:pPr>
            <a:r>
              <a:rPr lang="en-US" sz="3200" dirty="0"/>
              <a:t>Implements shortest path algorithms like Dijkstra’s Algorithm to find the most optimal route</a:t>
            </a:r>
            <a:r>
              <a:rPr lang="en-US" sz="3200" dirty="0" smtClean="0"/>
              <a:t>.</a:t>
            </a:r>
          </a:p>
          <a:p>
            <a:pPr marL="457200" indent="-457200">
              <a:buFont typeface="Wingdings" panose="05000000000000000000" pitchFamily="2" charset="2"/>
              <a:buChar char="Ø"/>
            </a:pPr>
            <a:r>
              <a:rPr lang="en-US" sz="3200" dirty="0" smtClean="0"/>
              <a:t>All the coding part is done in java as Object Oriented one.</a:t>
            </a:r>
            <a:endParaRPr lang="en-US" sz="3200" dirty="0"/>
          </a:p>
          <a:p>
            <a:pPr marL="285750" indent="-285750">
              <a:buFont typeface="Wingdings" panose="05000000000000000000" pitchFamily="2" charset="2"/>
              <a:buChar char="Ø"/>
            </a:pPr>
            <a:endParaRPr lang="en-IN" sz="3200" dirty="0"/>
          </a:p>
        </p:txBody>
      </p:sp>
    </p:spTree>
    <p:extLst>
      <p:ext uri="{BB962C8B-B14F-4D97-AF65-F5344CB8AC3E}">
        <p14:creationId xmlns:p14="http://schemas.microsoft.com/office/powerpoint/2010/main" val="75439685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85008" y="528455"/>
            <a:ext cx="11715007" cy="5509200"/>
          </a:xfrm>
          <a:prstGeom prst="rect">
            <a:avLst/>
          </a:prstGeom>
          <a:noFill/>
        </p:spPr>
        <p:txBody>
          <a:bodyPr wrap="square" rtlCol="0">
            <a:spAutoFit/>
          </a:bodyPr>
          <a:lstStyle/>
          <a:p>
            <a:r>
              <a:rPr lang="en-US" sz="3200" b="1" dirty="0" smtClean="0"/>
              <a:t>Update:</a:t>
            </a:r>
          </a:p>
          <a:p>
            <a:r>
              <a:rPr lang="en-US" sz="3200" dirty="0" smtClean="0"/>
              <a:t>After the first review we made significant progress towards completion of CNS.</a:t>
            </a:r>
          </a:p>
          <a:p>
            <a:pPr marL="514350" indent="-514350">
              <a:buFont typeface="Wingdings" panose="05000000000000000000" pitchFamily="2" charset="2"/>
              <a:buChar char="Ø"/>
            </a:pPr>
            <a:r>
              <a:rPr lang="en-US" sz="3200" dirty="0" smtClean="0"/>
              <a:t>The system’s backend part has been coded in java according to the overview which we showed in the </a:t>
            </a:r>
            <a:r>
              <a:rPr lang="en-US" sz="3200" dirty="0" err="1" smtClean="0"/>
              <a:t>uml</a:t>
            </a:r>
            <a:r>
              <a:rPr lang="en-US" sz="3200" dirty="0"/>
              <a:t> </a:t>
            </a:r>
            <a:r>
              <a:rPr lang="en-US" sz="3200" dirty="0" smtClean="0"/>
              <a:t>diagram</a:t>
            </a:r>
            <a:r>
              <a:rPr lang="en-US" sz="3200" dirty="0"/>
              <a:t>.(</a:t>
            </a:r>
            <a:r>
              <a:rPr lang="en-US" sz="3200" dirty="0">
                <a:hlinkClick r:id="rId2"/>
              </a:rPr>
              <a:t>https://drive.google.com/file/d/1cFNBhLH_nK21HTW_GGuLuziBVs8_nEQe/view</a:t>
            </a:r>
            <a:r>
              <a:rPr lang="en-US" sz="3200" dirty="0" smtClean="0"/>
              <a:t>).</a:t>
            </a:r>
          </a:p>
          <a:p>
            <a:pPr marL="514350" indent="-514350">
              <a:buFont typeface="Wingdings" panose="05000000000000000000" pitchFamily="2" charset="2"/>
              <a:buChar char="Ø"/>
            </a:pPr>
            <a:r>
              <a:rPr lang="en-US" sz="3200" dirty="0" smtClean="0"/>
              <a:t>The frontend part is still in progress. Will be completed before the final review.</a:t>
            </a:r>
          </a:p>
          <a:p>
            <a:pPr marL="514350" indent="-514350">
              <a:buFont typeface="Wingdings" panose="05000000000000000000" pitchFamily="2" charset="2"/>
              <a:buChar char="Ø"/>
            </a:pPr>
            <a:r>
              <a:rPr lang="en-US" sz="3200" dirty="0" smtClean="0"/>
              <a:t>We developing the frontend using basic </a:t>
            </a:r>
            <a:r>
              <a:rPr lang="en-US" sz="3200" dirty="0" err="1" smtClean="0"/>
              <a:t>html,css</a:t>
            </a:r>
            <a:r>
              <a:rPr lang="en-US" sz="3200" dirty="0"/>
              <a:t> </a:t>
            </a:r>
            <a:r>
              <a:rPr lang="en-US" sz="3200" dirty="0" smtClean="0"/>
              <a:t>and flask.</a:t>
            </a:r>
            <a:endParaRPr lang="en-IN" sz="3200" dirty="0"/>
          </a:p>
        </p:txBody>
      </p:sp>
    </p:spTree>
    <p:extLst>
      <p:ext uri="{BB962C8B-B14F-4D97-AF65-F5344CB8AC3E}">
        <p14:creationId xmlns:p14="http://schemas.microsoft.com/office/powerpoint/2010/main" val="31003918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5933" y="328434"/>
            <a:ext cx="10571998" cy="970450"/>
          </a:xfrm>
        </p:spPr>
        <p:txBody>
          <a:bodyPr/>
          <a:lstStyle/>
          <a:p>
            <a:r>
              <a:rPr lang="en-IN" dirty="0" smtClean="0"/>
              <a:t>RESEARCH GAP</a:t>
            </a:r>
            <a:endParaRPr lang="en-IN" dirty="0"/>
          </a:p>
        </p:txBody>
      </p:sp>
      <p:sp>
        <p:nvSpPr>
          <p:cNvPr id="3" name="Content Placeholder 2"/>
          <p:cNvSpPr>
            <a:spLocks noGrp="1"/>
          </p:cNvSpPr>
          <p:nvPr>
            <p:ph idx="1"/>
          </p:nvPr>
        </p:nvSpPr>
        <p:spPr>
          <a:xfrm>
            <a:off x="293422" y="2620111"/>
            <a:ext cx="10554574" cy="3636511"/>
          </a:xfrm>
        </p:spPr>
        <p:txBody>
          <a:bodyPr>
            <a:noAutofit/>
          </a:bodyPr>
          <a:lstStyle/>
          <a:p>
            <a:pPr marL="0" indent="0">
              <a:buNone/>
            </a:pPr>
            <a:r>
              <a:rPr lang="en-US" sz="2200" b="1" dirty="0" smtClean="0"/>
              <a:t>1)Lack </a:t>
            </a:r>
            <a:r>
              <a:rPr lang="en-US" sz="2200" b="1" dirty="0"/>
              <a:t>of Dynamic Graph Updates</a:t>
            </a:r>
            <a:r>
              <a:rPr lang="en-US" sz="2200" dirty="0"/>
              <a:t> </a:t>
            </a:r>
          </a:p>
          <a:p>
            <a:pPr lvl="1">
              <a:buFont typeface="Wingdings" panose="05000000000000000000" pitchFamily="2" charset="2"/>
              <a:buChar char="Ø"/>
            </a:pPr>
            <a:r>
              <a:rPr lang="en-US" sz="2200" b="1" dirty="0"/>
              <a:t>Progress:</a:t>
            </a:r>
            <a:r>
              <a:rPr lang="en-US" sz="2200" dirty="0"/>
              <a:t> </a:t>
            </a:r>
            <a:r>
              <a:rPr lang="en-US" sz="2200" dirty="0" smtClean="0"/>
              <a:t>We implemented </a:t>
            </a:r>
            <a:r>
              <a:rPr lang="en-US" sz="2200" dirty="0"/>
              <a:t>a tree-based dynamic graph structure in Java, allowing real-time modifications like adding/removing buildings.</a:t>
            </a:r>
          </a:p>
          <a:p>
            <a:pPr marL="0" indent="0">
              <a:buNone/>
            </a:pPr>
            <a:r>
              <a:rPr lang="en-US" sz="2200" b="1" dirty="0" smtClean="0"/>
              <a:t>2)Limited </a:t>
            </a:r>
            <a:r>
              <a:rPr lang="en-US" sz="2200" b="1" dirty="0"/>
              <a:t>User Interactivity &amp; Customization</a:t>
            </a:r>
            <a:r>
              <a:rPr lang="en-US" sz="2200" dirty="0"/>
              <a:t> </a:t>
            </a:r>
          </a:p>
          <a:p>
            <a:pPr lvl="1">
              <a:buFont typeface="Wingdings" panose="05000000000000000000" pitchFamily="2" charset="2"/>
              <a:buChar char="Ø"/>
            </a:pPr>
            <a:r>
              <a:rPr lang="en-US" sz="2200" b="1" dirty="0"/>
              <a:t>Progress:</a:t>
            </a:r>
            <a:r>
              <a:rPr lang="en-US" sz="2200" dirty="0"/>
              <a:t> </a:t>
            </a:r>
            <a:r>
              <a:rPr lang="en-US" sz="2200" dirty="0" smtClean="0"/>
              <a:t>We are working </a:t>
            </a:r>
            <a:r>
              <a:rPr lang="en-US" sz="2200" dirty="0"/>
              <a:t>on an interactive frontend UI with real-time search functionality.</a:t>
            </a:r>
          </a:p>
          <a:p>
            <a:pPr marL="0" indent="0">
              <a:buNone/>
            </a:pPr>
            <a:r>
              <a:rPr lang="en-US" sz="2200" b="1" dirty="0" smtClean="0"/>
              <a:t>3)Scalability </a:t>
            </a:r>
            <a:r>
              <a:rPr lang="en-US" sz="2200" b="1" dirty="0"/>
              <a:t>Issues in Large Campuses</a:t>
            </a:r>
            <a:r>
              <a:rPr lang="en-US" sz="2200" dirty="0"/>
              <a:t> </a:t>
            </a:r>
          </a:p>
          <a:p>
            <a:pPr lvl="1">
              <a:buFont typeface="Wingdings" panose="05000000000000000000" pitchFamily="2" charset="2"/>
              <a:buChar char="Ø"/>
            </a:pPr>
            <a:r>
              <a:rPr lang="en-US" sz="2200" b="1" dirty="0"/>
              <a:t>Progress:</a:t>
            </a:r>
            <a:r>
              <a:rPr lang="en-US" sz="2200" dirty="0"/>
              <a:t> Optimized graph traversal using Dijkstra’s Algorithm with potential for A* search.</a:t>
            </a:r>
          </a:p>
          <a:p>
            <a:pPr marL="0" indent="0">
              <a:buNone/>
            </a:pPr>
            <a:r>
              <a:rPr lang="en-US" sz="2200" b="1" dirty="0" smtClean="0"/>
              <a:t>4)Lack </a:t>
            </a:r>
            <a:r>
              <a:rPr lang="en-US" sz="2200" b="1" dirty="0"/>
              <a:t>of AI-Based Navigation Optimization</a:t>
            </a:r>
            <a:r>
              <a:rPr lang="en-US" sz="2200" dirty="0"/>
              <a:t> (Future Work) </a:t>
            </a:r>
          </a:p>
          <a:p>
            <a:pPr lvl="1">
              <a:buFont typeface="Wingdings" panose="05000000000000000000" pitchFamily="2" charset="2"/>
              <a:buChar char="Ø"/>
            </a:pPr>
            <a:r>
              <a:rPr lang="en-US" sz="2200" dirty="0" smtClean="0"/>
              <a:t>We are exploring some </a:t>
            </a:r>
            <a:r>
              <a:rPr lang="en-US" sz="2200" dirty="0"/>
              <a:t>AI-based route </a:t>
            </a:r>
            <a:r>
              <a:rPr lang="en-US" sz="2200" dirty="0" smtClean="0"/>
              <a:t>optimization techniques.</a:t>
            </a:r>
            <a:endParaRPr lang="en-US" sz="2200" dirty="0"/>
          </a:p>
        </p:txBody>
      </p:sp>
    </p:spTree>
    <p:extLst>
      <p:ext uri="{BB962C8B-B14F-4D97-AF65-F5344CB8AC3E}">
        <p14:creationId xmlns:p14="http://schemas.microsoft.com/office/powerpoint/2010/main" val="3592457406"/>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PROBLEM STATEMENT</a:t>
            </a:r>
            <a:endParaRPr lang="en-IN" dirty="0"/>
          </a:p>
        </p:txBody>
      </p:sp>
      <p:sp>
        <p:nvSpPr>
          <p:cNvPr id="5" name="TextBox 4"/>
          <p:cNvSpPr txBox="1"/>
          <p:nvPr/>
        </p:nvSpPr>
        <p:spPr>
          <a:xfrm>
            <a:off x="460250" y="2175431"/>
            <a:ext cx="11038114" cy="2585323"/>
          </a:xfrm>
          <a:prstGeom prst="rect">
            <a:avLst/>
          </a:prstGeom>
          <a:noFill/>
        </p:spPr>
        <p:txBody>
          <a:bodyPr wrap="square" rtlCol="0">
            <a:spAutoFit/>
          </a:bodyPr>
          <a:lstStyle/>
          <a:p>
            <a:pPr marL="285750" indent="-285750">
              <a:buFont typeface="Wingdings" panose="05000000000000000000" pitchFamily="2" charset="2"/>
              <a:buChar char="Ø"/>
            </a:pPr>
            <a:r>
              <a:rPr lang="en-IN" dirty="0" smtClean="0"/>
              <a:t>Navigating large campuses is challenging for new students. Traditional maps and signboards are inefficient, while existing digital solutions lack dynamic updates, GPS integration, and customizable routes. Additionally, they also fail to account for campus layout changes due to construction or closures.</a:t>
            </a:r>
          </a:p>
          <a:p>
            <a:pPr marL="285750" indent="-285750">
              <a:buFont typeface="Wingdings" panose="05000000000000000000" pitchFamily="2" charset="2"/>
              <a:buChar char="Ø"/>
            </a:pPr>
            <a:endParaRPr lang="en-IN" dirty="0"/>
          </a:p>
          <a:p>
            <a:pPr marL="285750" indent="-285750">
              <a:buFont typeface="Wingdings" panose="05000000000000000000" pitchFamily="2" charset="2"/>
              <a:buChar char="Ø"/>
            </a:pPr>
            <a:endParaRPr lang="en-IN" dirty="0" smtClean="0"/>
          </a:p>
          <a:p>
            <a:r>
              <a:rPr lang="en-US" b="1" dirty="0"/>
              <a:t>Progress: </a:t>
            </a:r>
            <a:r>
              <a:rPr lang="en-US" dirty="0"/>
              <a:t>We have coded the backend completely in Java to model the campus as a graph.</a:t>
            </a:r>
          </a:p>
          <a:p>
            <a:r>
              <a:rPr lang="en-US" dirty="0"/>
              <a:t>Currently developing the web-based interface </a:t>
            </a:r>
            <a:r>
              <a:rPr lang="en-US" dirty="0" smtClean="0"/>
              <a:t>for the UI part.</a:t>
            </a:r>
            <a:endParaRPr lang="en-US" dirty="0"/>
          </a:p>
          <a:p>
            <a:pPr marL="285750" indent="-285750">
              <a:buFont typeface="Wingdings" panose="05000000000000000000" pitchFamily="2" charset="2"/>
              <a:buChar char="Ø"/>
            </a:pPr>
            <a:endParaRPr lang="en-IN" dirty="0"/>
          </a:p>
        </p:txBody>
      </p:sp>
    </p:spTree>
    <p:extLst>
      <p:ext uri="{BB962C8B-B14F-4D97-AF65-F5344CB8AC3E}">
        <p14:creationId xmlns:p14="http://schemas.microsoft.com/office/powerpoint/2010/main" val="54274720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METHODOLOGY</a:t>
            </a:r>
            <a:endParaRPr lang="en-IN" dirty="0"/>
          </a:p>
        </p:txBody>
      </p:sp>
      <p:sp>
        <p:nvSpPr>
          <p:cNvPr id="4" name="Rectangle 1"/>
          <p:cNvSpPr>
            <a:spLocks noGrp="1" noChangeArrowheads="1"/>
          </p:cNvSpPr>
          <p:nvPr>
            <p:ph idx="1"/>
          </p:nvPr>
        </p:nvSpPr>
        <p:spPr bwMode="auto">
          <a:xfrm>
            <a:off x="284322" y="2155800"/>
            <a:ext cx="11240680"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400" b="1" i="0" u="none" strike="noStrike" cap="none" normalizeH="0" baseline="0" dirty="0" smtClean="0">
                <a:ln>
                  <a:noFill/>
                </a:ln>
                <a:solidFill>
                  <a:schemeClr val="tx1"/>
                </a:solidFill>
                <a:effectLst/>
                <a:latin typeface="+mj-lt"/>
              </a:rPr>
              <a:t>Graph Representation of Campus</a:t>
            </a:r>
            <a:r>
              <a:rPr kumimoji="0" lang="en-US" altLang="en-US" sz="2400" b="0" i="0" u="none" strike="noStrike" cap="none" normalizeH="0" baseline="0" dirty="0" smtClean="0">
                <a:ln>
                  <a:noFill/>
                </a:ln>
                <a:solidFill>
                  <a:schemeClr val="tx1"/>
                </a:solidFill>
                <a:effectLst/>
                <a:latin typeface="+mj-lt"/>
              </a:rPr>
              <a:t> </a:t>
            </a:r>
          </a:p>
          <a:p>
            <a:pPr marL="0" marR="0" lvl="0" indent="0" algn="l" defTabSz="914400" rtl="0" eaLnBrk="0" fontAlgn="base" latinLnBrk="0" hangingPunct="0">
              <a:lnSpc>
                <a:spcPct val="100000"/>
              </a:lnSpc>
              <a:spcBef>
                <a:spcPct val="0"/>
              </a:spcBef>
              <a:spcAft>
                <a:spcPct val="0"/>
              </a:spcAft>
              <a:buClrTx/>
              <a:buSzTx/>
              <a:buNone/>
              <a:tabLst/>
            </a:pPr>
            <a:r>
              <a:rPr lang="en-US" altLang="en-US" sz="2400" dirty="0">
                <a:latin typeface="+mj-lt"/>
              </a:rPr>
              <a:t> </a:t>
            </a:r>
            <a:r>
              <a:rPr lang="en-US" altLang="en-US" sz="2400" dirty="0" smtClean="0">
                <a:latin typeface="+mj-lt"/>
              </a:rPr>
              <a:t>         </a:t>
            </a:r>
            <a:r>
              <a:rPr kumimoji="0" lang="en-US" altLang="en-US" sz="2400" b="1" i="0" u="none" strike="noStrike" cap="none" normalizeH="0" baseline="0" dirty="0" smtClean="0">
                <a:ln>
                  <a:noFill/>
                </a:ln>
                <a:solidFill>
                  <a:schemeClr val="tx1"/>
                </a:solidFill>
                <a:effectLst/>
                <a:latin typeface="+mj-lt"/>
              </a:rPr>
              <a:t>Progress:</a:t>
            </a:r>
            <a:r>
              <a:rPr kumimoji="0" lang="en-US" altLang="en-US" sz="2400" b="0" i="0" u="none" strike="noStrike" cap="none" normalizeH="0" baseline="0" dirty="0" smtClean="0">
                <a:ln>
                  <a:noFill/>
                </a:ln>
                <a:solidFill>
                  <a:schemeClr val="tx1"/>
                </a:solidFill>
                <a:effectLst/>
                <a:latin typeface="+mj-lt"/>
              </a:rPr>
              <a:t> Successfully implemented a </a:t>
            </a:r>
            <a:r>
              <a:rPr kumimoji="0" lang="en-US" altLang="en-US" sz="2400" b="1" i="0" u="none" strike="noStrike" cap="none" normalizeH="0" baseline="0" dirty="0" smtClean="0">
                <a:ln>
                  <a:noFill/>
                </a:ln>
                <a:solidFill>
                  <a:schemeClr val="tx1"/>
                </a:solidFill>
                <a:effectLst/>
                <a:latin typeface="+mj-lt"/>
              </a:rPr>
              <a:t>tree-based graph</a:t>
            </a:r>
            <a:r>
              <a:rPr kumimoji="0" lang="en-US" altLang="en-US" sz="2400" b="0" i="0" u="none" strike="noStrike" cap="none" normalizeH="0" baseline="0" dirty="0" smtClean="0">
                <a:ln>
                  <a:noFill/>
                </a:ln>
                <a:solidFill>
                  <a:schemeClr val="tx1"/>
                </a:solidFill>
                <a:effectLst/>
                <a:latin typeface="+mj-lt"/>
              </a:rPr>
              <a:t> structure in   </a:t>
            </a:r>
          </a:p>
          <a:p>
            <a:pPr marL="0" marR="0" lvl="0" indent="0" algn="l" defTabSz="914400" rtl="0" eaLnBrk="0" fontAlgn="base" latinLnBrk="0" hangingPunct="0">
              <a:lnSpc>
                <a:spcPct val="100000"/>
              </a:lnSpc>
              <a:spcBef>
                <a:spcPct val="0"/>
              </a:spcBef>
              <a:spcAft>
                <a:spcPct val="0"/>
              </a:spcAft>
              <a:buClrTx/>
              <a:buSzTx/>
              <a:buNone/>
              <a:tabLst/>
            </a:pPr>
            <a:r>
              <a:rPr lang="en-US" altLang="en-US" sz="2400" dirty="0">
                <a:latin typeface="+mj-lt"/>
              </a:rPr>
              <a:t> </a:t>
            </a:r>
            <a:r>
              <a:rPr lang="en-US" altLang="en-US" sz="2400" dirty="0" smtClean="0">
                <a:latin typeface="+mj-lt"/>
              </a:rPr>
              <a:t>                         </a:t>
            </a:r>
            <a:r>
              <a:rPr kumimoji="0" lang="en-US" altLang="en-US" sz="2400" b="0" i="0" u="none" strike="noStrike" cap="none" normalizeH="0" baseline="0" dirty="0" smtClean="0">
                <a:ln>
                  <a:noFill/>
                </a:ln>
                <a:solidFill>
                  <a:schemeClr val="tx1"/>
                </a:solidFill>
                <a:effectLst/>
                <a:latin typeface="+mj-lt"/>
              </a:rPr>
              <a:t>Java. </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400" b="1" i="0" u="none" strike="noStrike" cap="none" normalizeH="0" baseline="0" dirty="0" smtClean="0">
                <a:ln>
                  <a:noFill/>
                </a:ln>
                <a:solidFill>
                  <a:schemeClr val="tx1"/>
                </a:solidFill>
                <a:effectLst/>
                <a:latin typeface="+mj-lt"/>
              </a:rPr>
              <a:t>Implementing Shortest Path Algorithm</a:t>
            </a:r>
            <a:r>
              <a:rPr kumimoji="0" lang="en-US" altLang="en-US" sz="2400" b="0" i="0" u="none" strike="noStrike" cap="none" normalizeH="0" baseline="0" dirty="0" smtClean="0">
                <a:ln>
                  <a:noFill/>
                </a:ln>
                <a:solidFill>
                  <a:schemeClr val="tx1"/>
                </a:solidFill>
                <a:effectLst/>
                <a:latin typeface="+mj-lt"/>
              </a:rPr>
              <a:t> </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400" b="1" i="0" u="none" strike="noStrike" cap="none" normalizeH="0" baseline="0" dirty="0" smtClean="0">
                <a:ln>
                  <a:noFill/>
                </a:ln>
                <a:solidFill>
                  <a:schemeClr val="tx1"/>
                </a:solidFill>
                <a:effectLst/>
                <a:latin typeface="+mj-lt"/>
              </a:rPr>
              <a:t>          Progress:</a:t>
            </a:r>
            <a:r>
              <a:rPr kumimoji="0" lang="en-US" altLang="en-US" sz="2400" b="0" i="0" u="none" strike="noStrike" cap="none" normalizeH="0" baseline="0" dirty="0" smtClean="0">
                <a:ln>
                  <a:noFill/>
                </a:ln>
                <a:solidFill>
                  <a:schemeClr val="tx1"/>
                </a:solidFill>
                <a:effectLst/>
                <a:latin typeface="+mj-lt"/>
              </a:rPr>
              <a:t> </a:t>
            </a:r>
            <a:r>
              <a:rPr kumimoji="0" lang="en-US" altLang="en-US" sz="2400" i="0" u="none" strike="noStrike" cap="none" normalizeH="0" baseline="0" dirty="0" smtClean="0">
                <a:ln>
                  <a:noFill/>
                </a:ln>
                <a:solidFill>
                  <a:schemeClr val="tx1"/>
                </a:solidFill>
                <a:effectLst/>
                <a:latin typeface="+mj-lt"/>
              </a:rPr>
              <a:t>Dijkstra’s Algorithm </a:t>
            </a:r>
            <a:r>
              <a:rPr kumimoji="0" lang="en-US" altLang="en-US" sz="2400" b="0" i="0" u="none" strike="noStrike" cap="none" normalizeH="0" baseline="0" dirty="0" smtClean="0">
                <a:ln>
                  <a:noFill/>
                </a:ln>
                <a:solidFill>
                  <a:schemeClr val="tx1"/>
                </a:solidFill>
                <a:effectLst/>
                <a:latin typeface="+mj-lt"/>
              </a:rPr>
              <a:t>is fully integrated to compute the  </a:t>
            </a:r>
          </a:p>
          <a:p>
            <a:pPr marL="0" marR="0" lvl="0" indent="0" algn="l" defTabSz="914400" rtl="0" eaLnBrk="0" fontAlgn="base" latinLnBrk="0" hangingPunct="0">
              <a:lnSpc>
                <a:spcPct val="100000"/>
              </a:lnSpc>
              <a:spcBef>
                <a:spcPct val="0"/>
              </a:spcBef>
              <a:spcAft>
                <a:spcPct val="0"/>
              </a:spcAft>
              <a:buClrTx/>
              <a:buSzTx/>
              <a:buNone/>
              <a:tabLst/>
            </a:pPr>
            <a:r>
              <a:rPr lang="en-US" altLang="en-US" sz="2400" dirty="0">
                <a:latin typeface="+mj-lt"/>
              </a:rPr>
              <a:t> </a:t>
            </a:r>
            <a:r>
              <a:rPr lang="en-US" altLang="en-US" sz="2400" dirty="0" smtClean="0">
                <a:latin typeface="+mj-lt"/>
              </a:rPr>
              <a:t>                          </a:t>
            </a:r>
            <a:r>
              <a:rPr kumimoji="0" lang="en-US" altLang="en-US" sz="2400" b="0" i="0" u="none" strike="noStrike" cap="none" normalizeH="0" baseline="0" dirty="0" smtClean="0">
                <a:ln>
                  <a:noFill/>
                </a:ln>
                <a:solidFill>
                  <a:schemeClr val="tx1"/>
                </a:solidFill>
                <a:effectLst/>
                <a:latin typeface="+mj-lt"/>
              </a:rPr>
              <a:t>shortest path dynamically. </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400" b="1" i="0" u="none" strike="noStrike" cap="none" normalizeH="0" baseline="0" dirty="0" smtClean="0">
                <a:ln>
                  <a:noFill/>
                </a:ln>
                <a:solidFill>
                  <a:schemeClr val="tx1"/>
                </a:solidFill>
                <a:effectLst/>
                <a:latin typeface="+mj-lt"/>
              </a:rPr>
              <a:t>Developing an Interactive User Interface (UI)</a:t>
            </a:r>
            <a:r>
              <a:rPr kumimoji="0" lang="en-US" altLang="en-US" sz="2400" b="0" i="0" u="none" strike="noStrike" cap="none" normalizeH="0" baseline="0" dirty="0" smtClean="0">
                <a:ln>
                  <a:noFill/>
                </a:ln>
                <a:solidFill>
                  <a:schemeClr val="tx1"/>
                </a:solidFill>
                <a:effectLst/>
                <a:latin typeface="+mj-lt"/>
              </a:rPr>
              <a:t> </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400" b="1" i="0" u="none" strike="noStrike" cap="none" normalizeH="0" baseline="0" dirty="0" smtClean="0">
                <a:ln>
                  <a:noFill/>
                </a:ln>
                <a:solidFill>
                  <a:schemeClr val="tx1"/>
                </a:solidFill>
                <a:effectLst/>
                <a:latin typeface="+mj-lt"/>
              </a:rPr>
              <a:t>          Progress:</a:t>
            </a:r>
            <a:r>
              <a:rPr kumimoji="0" lang="en-US" altLang="en-US" sz="2400" b="0" i="0" u="none" strike="noStrike" cap="none" normalizeH="0" baseline="0" dirty="0" smtClean="0">
                <a:ln>
                  <a:noFill/>
                </a:ln>
                <a:solidFill>
                  <a:schemeClr val="tx1"/>
                </a:solidFill>
                <a:effectLst/>
                <a:latin typeface="+mj-lt"/>
              </a:rPr>
              <a:t> Transitioning from </a:t>
            </a:r>
            <a:r>
              <a:rPr kumimoji="0" lang="en-US" altLang="en-US" sz="2400" i="0" u="none" strike="noStrike" cap="none" normalizeH="0" baseline="0" dirty="0" smtClean="0">
                <a:ln>
                  <a:noFill/>
                </a:ln>
                <a:solidFill>
                  <a:schemeClr val="tx1"/>
                </a:solidFill>
                <a:effectLst/>
                <a:latin typeface="+mj-lt"/>
              </a:rPr>
              <a:t>JavaFX to a web-based UI using HTML,  </a:t>
            </a:r>
          </a:p>
          <a:p>
            <a:pPr marL="0" marR="0" lvl="0" indent="0" algn="l" defTabSz="914400" rtl="0" eaLnBrk="0" fontAlgn="base" latinLnBrk="0" hangingPunct="0">
              <a:lnSpc>
                <a:spcPct val="100000"/>
              </a:lnSpc>
              <a:spcBef>
                <a:spcPct val="0"/>
              </a:spcBef>
              <a:spcAft>
                <a:spcPct val="0"/>
              </a:spcAft>
              <a:buClrTx/>
              <a:buSzTx/>
              <a:buNone/>
              <a:tabLst/>
            </a:pPr>
            <a:r>
              <a:rPr lang="en-US" altLang="en-US" sz="2400" dirty="0">
                <a:latin typeface="+mj-lt"/>
              </a:rPr>
              <a:t> </a:t>
            </a:r>
            <a:r>
              <a:rPr lang="en-US" altLang="en-US" sz="2400" dirty="0" smtClean="0">
                <a:latin typeface="+mj-lt"/>
              </a:rPr>
              <a:t>                          </a:t>
            </a:r>
            <a:r>
              <a:rPr kumimoji="0" lang="en-US" altLang="en-US" sz="2400" i="0" u="none" strike="noStrike" cap="none" normalizeH="0" baseline="0" dirty="0" smtClean="0">
                <a:ln>
                  <a:noFill/>
                </a:ln>
                <a:solidFill>
                  <a:schemeClr val="tx1"/>
                </a:solidFill>
                <a:effectLst/>
                <a:latin typeface="+mj-lt"/>
              </a:rPr>
              <a:t>CSS, JS, and Flask. </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400" i="0" u="none" strike="noStrike" cap="none" normalizeH="0" baseline="0" dirty="0" smtClean="0">
                <a:ln>
                  <a:noFill/>
                </a:ln>
                <a:solidFill>
                  <a:schemeClr val="tx1"/>
                </a:solidFill>
                <a:effectLst/>
                <a:latin typeface="+mj-lt"/>
              </a:rPr>
              <a:t>Users will be able to input locations, view shortest paths, and interact with a campus map</a:t>
            </a:r>
            <a:r>
              <a:rPr kumimoji="0" lang="en-US" altLang="en-US" sz="2400" b="0" i="0" u="none" strike="noStrike" cap="none" normalizeH="0" baseline="0" dirty="0" smtClean="0">
                <a:ln>
                  <a:noFill/>
                </a:ln>
                <a:solidFill>
                  <a:schemeClr val="tx1"/>
                </a:solidFill>
                <a:effectLst/>
                <a:latin typeface="+mj-lt"/>
              </a:rPr>
              <a:t>.</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kumimoji="0" lang="en-US" altLang="en-US" sz="2400" b="0" i="0" u="none" strike="noStrike" cap="none" normalizeH="0" baseline="0" dirty="0" smtClean="0">
              <a:ln>
                <a:noFill/>
              </a:ln>
              <a:solidFill>
                <a:schemeClr val="tx1"/>
              </a:solidFill>
              <a:effectLst/>
              <a:latin typeface="+mj-lt"/>
            </a:endParaRPr>
          </a:p>
        </p:txBody>
      </p:sp>
    </p:spTree>
    <p:extLst>
      <p:ext uri="{BB962C8B-B14F-4D97-AF65-F5344CB8AC3E}">
        <p14:creationId xmlns:p14="http://schemas.microsoft.com/office/powerpoint/2010/main" val="2288694873"/>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6873" y="613442"/>
            <a:ext cx="10571998" cy="970450"/>
          </a:xfrm>
        </p:spPr>
        <p:txBody>
          <a:bodyPr/>
          <a:lstStyle/>
          <a:p>
            <a:r>
              <a:rPr lang="en-IN" dirty="0"/>
              <a:t>Additional Features &amp; Future Enhancements</a:t>
            </a:r>
          </a:p>
        </p:txBody>
      </p:sp>
      <p:sp>
        <p:nvSpPr>
          <p:cNvPr id="4" name="Rectangle 1"/>
          <p:cNvSpPr>
            <a:spLocks noGrp="1" noChangeArrowheads="1"/>
          </p:cNvSpPr>
          <p:nvPr>
            <p:ph idx="1"/>
          </p:nvPr>
        </p:nvSpPr>
        <p:spPr bwMode="auto">
          <a:xfrm>
            <a:off x="818712" y="2332383"/>
            <a:ext cx="11440953"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400" b="1" i="0" u="none" strike="noStrike" cap="none" normalizeH="0" baseline="0" dirty="0" smtClean="0">
                <a:ln>
                  <a:noFill/>
                </a:ln>
                <a:solidFill>
                  <a:schemeClr val="tx1"/>
                </a:solidFill>
                <a:effectLst/>
              </a:rPr>
              <a:t>Dynamic Graph Updates</a:t>
            </a:r>
            <a:r>
              <a:rPr kumimoji="0" lang="en-US" altLang="en-US" sz="2400" b="0" i="0" u="none" strike="noStrike" cap="none" normalizeH="0" baseline="0" dirty="0" smtClean="0">
                <a:ln>
                  <a:noFill/>
                </a:ln>
                <a:solidFill>
                  <a:schemeClr val="tx1"/>
                </a:solidFill>
                <a:effectLst/>
              </a:rPr>
              <a:t> </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400" b="1" i="0" u="none" strike="noStrike" cap="none" normalizeH="0" baseline="0" dirty="0" smtClean="0">
                <a:ln>
                  <a:noFill/>
                </a:ln>
                <a:solidFill>
                  <a:schemeClr val="tx1"/>
                </a:solidFill>
                <a:effectLst/>
              </a:rPr>
              <a:t>       Progress:</a:t>
            </a:r>
            <a:r>
              <a:rPr kumimoji="0" lang="en-US" altLang="en-US" sz="2400" b="0" i="0" u="none" strike="noStrike" cap="none" normalizeH="0" baseline="0" dirty="0" smtClean="0">
                <a:ln>
                  <a:noFill/>
                </a:ln>
                <a:solidFill>
                  <a:schemeClr val="tx1"/>
                </a:solidFill>
                <a:effectLst/>
              </a:rPr>
              <a:t> Implemented dynamic node and edge modifications in Java. </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400" b="1" i="0" u="none" strike="noStrike" cap="none" normalizeH="0" baseline="0" dirty="0" smtClean="0">
                <a:ln>
                  <a:noFill/>
                </a:ln>
                <a:solidFill>
                  <a:schemeClr val="tx1"/>
                </a:solidFill>
                <a:effectLst/>
              </a:rPr>
              <a:t>GPS Integration (Future Work)</a:t>
            </a:r>
            <a:r>
              <a:rPr kumimoji="0" lang="en-US" altLang="en-US" sz="2400" b="0" i="0" u="none" strike="noStrike" cap="none" normalizeH="0" baseline="0" dirty="0" smtClean="0">
                <a:ln>
                  <a:noFill/>
                </a:ln>
                <a:solidFill>
                  <a:schemeClr val="tx1"/>
                </a:solidFill>
                <a:effectLst/>
              </a:rPr>
              <a:t> </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400" b="0" i="0" u="none" strike="noStrike" cap="none" normalizeH="0" baseline="0" dirty="0" smtClean="0">
                <a:ln>
                  <a:noFill/>
                </a:ln>
                <a:solidFill>
                  <a:schemeClr val="tx1"/>
                </a:solidFill>
                <a:effectLst/>
              </a:rPr>
              <a:t>       Next step: Incorporate </a:t>
            </a:r>
            <a:r>
              <a:rPr kumimoji="0" lang="en-US" altLang="en-US" sz="2400" b="1" i="0" u="none" strike="noStrike" cap="none" normalizeH="0" baseline="0" dirty="0" smtClean="0">
                <a:ln>
                  <a:noFill/>
                </a:ln>
                <a:solidFill>
                  <a:schemeClr val="tx1"/>
                </a:solidFill>
                <a:effectLst/>
              </a:rPr>
              <a:t>Flask-based API</a:t>
            </a:r>
            <a:r>
              <a:rPr kumimoji="0" lang="en-US" altLang="en-US" sz="2400" b="0" i="0" u="none" strike="noStrike" cap="none" normalizeH="0" baseline="0" dirty="0" smtClean="0">
                <a:ln>
                  <a:noFill/>
                </a:ln>
                <a:solidFill>
                  <a:schemeClr val="tx1"/>
                </a:solidFill>
                <a:effectLst/>
              </a:rPr>
              <a:t> for real-time updates. </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400" b="1" i="0" u="none" strike="noStrike" cap="none" normalizeH="0" baseline="0" dirty="0" smtClean="0">
                <a:ln>
                  <a:noFill/>
                </a:ln>
                <a:solidFill>
                  <a:schemeClr val="tx1"/>
                </a:solidFill>
                <a:effectLst/>
              </a:rPr>
              <a:t>AI-Based Route Optimization (Future Work)</a:t>
            </a:r>
            <a:r>
              <a:rPr kumimoji="0" lang="en-US" altLang="en-US" sz="2400" b="0" i="0" u="none" strike="noStrike" cap="none" normalizeH="0" baseline="0" dirty="0" smtClean="0">
                <a:ln>
                  <a:noFill/>
                </a:ln>
                <a:solidFill>
                  <a:schemeClr val="tx1"/>
                </a:solidFill>
                <a:effectLst/>
              </a:rPr>
              <a:t> </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400" b="0" i="0" u="none" strike="noStrike" cap="none" normalizeH="0" baseline="0" dirty="0" smtClean="0">
                <a:ln>
                  <a:noFill/>
                </a:ln>
                <a:solidFill>
                  <a:schemeClr val="tx1"/>
                </a:solidFill>
                <a:effectLst/>
              </a:rPr>
              <a:t>       Will explore congestion-aware routing later.</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400" b="1" i="0" u="none" strike="noStrike" cap="none" normalizeH="0" baseline="0" dirty="0" smtClean="0">
                <a:ln>
                  <a:noFill/>
                </a:ln>
                <a:solidFill>
                  <a:schemeClr val="tx1"/>
                </a:solidFill>
                <a:effectLst/>
              </a:rPr>
              <a:t>Mobile App Development (Future Work)</a:t>
            </a:r>
            <a:r>
              <a:rPr kumimoji="0" lang="en-US" altLang="en-US" sz="2400" b="0" i="0" u="none" strike="noStrike" cap="none" normalizeH="0" baseline="0" dirty="0" smtClean="0">
                <a:ln>
                  <a:noFill/>
                </a:ln>
                <a:solidFill>
                  <a:schemeClr val="tx1"/>
                </a:solidFill>
                <a:effectLst/>
              </a:rPr>
              <a:t> </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400" b="0" i="0" u="none" strike="noStrike" cap="none" normalizeH="0" baseline="0" dirty="0" smtClean="0">
                <a:ln>
                  <a:noFill/>
                </a:ln>
                <a:solidFill>
                  <a:schemeClr val="tx1"/>
                </a:solidFill>
                <a:effectLst/>
              </a:rPr>
              <a:t>       Planned future migration to </a:t>
            </a:r>
            <a:r>
              <a:rPr kumimoji="0" lang="en-US" altLang="en-US" sz="2400" b="1" i="0" u="none" strike="noStrike" cap="none" normalizeH="0" baseline="0" dirty="0" smtClean="0">
                <a:ln>
                  <a:noFill/>
                </a:ln>
                <a:solidFill>
                  <a:schemeClr val="tx1"/>
                </a:solidFill>
                <a:effectLst/>
              </a:rPr>
              <a:t>Flutter</a:t>
            </a:r>
            <a:r>
              <a:rPr kumimoji="0" lang="en-US" altLang="en-US" sz="2400" b="0" i="0" u="none" strike="noStrike" cap="none" normalizeH="0" baseline="0" dirty="0" smtClean="0">
                <a:ln>
                  <a:noFill/>
                </a:ln>
                <a:solidFill>
                  <a:schemeClr val="tx1"/>
                </a:solidFill>
                <a:effectLst/>
              </a:rPr>
              <a:t> after web app completion.</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kumimoji="0" lang="en-US" altLang="en-US" sz="2400" b="0" i="0" u="none" strike="noStrike" cap="none" normalizeH="0" baseline="0" dirty="0" smtClean="0">
              <a:ln>
                <a:noFill/>
              </a:ln>
              <a:solidFill>
                <a:schemeClr val="tx1"/>
              </a:solidFill>
              <a:effectLst/>
            </a:endParaRPr>
          </a:p>
        </p:txBody>
      </p:sp>
    </p:spTree>
    <p:extLst>
      <p:ext uri="{BB962C8B-B14F-4D97-AF65-F5344CB8AC3E}">
        <p14:creationId xmlns:p14="http://schemas.microsoft.com/office/powerpoint/2010/main" val="3934771304"/>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DATA STRUCTURES USED</a:t>
            </a:r>
            <a:endParaRPr lang="en-IN" dirty="0"/>
          </a:p>
        </p:txBody>
      </p:sp>
      <p:sp>
        <p:nvSpPr>
          <p:cNvPr id="3" name="Content Placeholder 2"/>
          <p:cNvSpPr>
            <a:spLocks noGrp="1"/>
          </p:cNvSpPr>
          <p:nvPr>
            <p:ph idx="1"/>
          </p:nvPr>
        </p:nvSpPr>
        <p:spPr/>
        <p:txBody>
          <a:bodyPr/>
          <a:lstStyle/>
          <a:p>
            <a:r>
              <a:rPr lang="en-IN" b="1" dirty="0"/>
              <a:t>Tree-based graph representation</a:t>
            </a:r>
            <a:endParaRPr lang="en-IN" dirty="0"/>
          </a:p>
          <a:p>
            <a:r>
              <a:rPr lang="en-IN" b="1" dirty="0"/>
              <a:t>Priority Queue (Min-Heap) for </a:t>
            </a:r>
            <a:r>
              <a:rPr lang="en-IN" b="1" dirty="0" err="1"/>
              <a:t>Dijkstra’s</a:t>
            </a:r>
            <a:r>
              <a:rPr lang="en-IN" b="1" dirty="0"/>
              <a:t> Algorithm</a:t>
            </a:r>
            <a:endParaRPr lang="en-IN" dirty="0"/>
          </a:p>
          <a:p>
            <a:r>
              <a:rPr lang="en-IN" b="1" dirty="0"/>
              <a:t>Adjacency List for storing path </a:t>
            </a:r>
            <a:r>
              <a:rPr lang="en-IN" b="1" dirty="0" smtClean="0"/>
              <a:t>connections</a:t>
            </a:r>
            <a:endParaRPr lang="en-IN" b="1" dirty="0"/>
          </a:p>
        </p:txBody>
      </p:sp>
    </p:spTree>
    <p:extLst>
      <p:ext uri="{BB962C8B-B14F-4D97-AF65-F5344CB8AC3E}">
        <p14:creationId xmlns:p14="http://schemas.microsoft.com/office/powerpoint/2010/main" val="1534767075"/>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OOPS Concepts Used</a:t>
            </a:r>
            <a:endParaRPr lang="en-IN" dirty="0"/>
          </a:p>
        </p:txBody>
      </p:sp>
      <p:sp>
        <p:nvSpPr>
          <p:cNvPr id="3" name="Content Placeholder 2"/>
          <p:cNvSpPr>
            <a:spLocks noGrp="1"/>
          </p:cNvSpPr>
          <p:nvPr>
            <p:ph idx="1"/>
          </p:nvPr>
        </p:nvSpPr>
        <p:spPr/>
        <p:txBody>
          <a:bodyPr>
            <a:normAutofit/>
          </a:bodyPr>
          <a:lstStyle/>
          <a:p>
            <a:r>
              <a:rPr lang="en-IN" sz="3200" dirty="0" smtClean="0"/>
              <a:t>Code Explanation.</a:t>
            </a:r>
            <a:endParaRPr lang="en-IN" sz="3200" dirty="0"/>
          </a:p>
        </p:txBody>
      </p:sp>
    </p:spTree>
    <p:extLst>
      <p:ext uri="{BB962C8B-B14F-4D97-AF65-F5344CB8AC3E}">
        <p14:creationId xmlns:p14="http://schemas.microsoft.com/office/powerpoint/2010/main" val="29383617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Current Status and Expected Outcomes</a:t>
            </a:r>
            <a:endParaRPr lang="en-IN" dirty="0"/>
          </a:p>
        </p:txBody>
      </p:sp>
      <p:sp>
        <p:nvSpPr>
          <p:cNvPr id="4" name="Rectangle 1"/>
          <p:cNvSpPr>
            <a:spLocks noGrp="1" noChangeArrowheads="1"/>
          </p:cNvSpPr>
          <p:nvPr>
            <p:ph idx="1"/>
          </p:nvPr>
        </p:nvSpPr>
        <p:spPr bwMode="auto">
          <a:xfrm>
            <a:off x="818712" y="2332383"/>
            <a:ext cx="8032968"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defTabSz="914400" eaLnBrk="0" fontAlgn="base" hangingPunct="0">
              <a:spcBef>
                <a:spcPct val="0"/>
              </a:spcBef>
              <a:spcAft>
                <a:spcPct val="0"/>
              </a:spcAft>
              <a:buClrTx/>
              <a:buFont typeface="Wingdings" panose="05000000000000000000" pitchFamily="2" charset="2"/>
              <a:buChar char="Ø"/>
            </a:pPr>
            <a:r>
              <a:rPr kumimoji="0" lang="en-US" altLang="en-US" sz="2400" b="1" i="0" u="none" strike="noStrike" cap="none" normalizeH="0" baseline="0" dirty="0" smtClean="0">
                <a:ln>
                  <a:noFill/>
                </a:ln>
                <a:solidFill>
                  <a:schemeClr val="tx1"/>
                </a:solidFill>
                <a:effectLst/>
              </a:rPr>
              <a:t>Completed</a:t>
            </a:r>
            <a:r>
              <a:rPr kumimoji="0" lang="en-US" altLang="en-US" sz="2400" b="0" i="0" u="none" strike="noStrike" cap="none" normalizeH="0" baseline="0" dirty="0" smtClean="0">
                <a:ln>
                  <a:noFill/>
                </a:ln>
                <a:solidFill>
                  <a:schemeClr val="tx1"/>
                </a:solidFill>
                <a:effectLst/>
              </a:rPr>
              <a:t/>
            </a:r>
            <a:br>
              <a:rPr kumimoji="0" lang="en-US" altLang="en-US" sz="2400" b="0" i="0" u="none" strike="noStrike" cap="none" normalizeH="0" baseline="0" dirty="0" smtClean="0">
                <a:ln>
                  <a:noFill/>
                </a:ln>
                <a:solidFill>
                  <a:schemeClr val="tx1"/>
                </a:solidFill>
                <a:effectLst/>
              </a:rPr>
            </a:br>
            <a:r>
              <a:rPr kumimoji="0" lang="en-US" altLang="en-US" sz="2400" b="0" i="0" u="none" strike="noStrike" cap="none" normalizeH="0" baseline="0" dirty="0" smtClean="0">
                <a:ln>
                  <a:noFill/>
                </a:ln>
                <a:solidFill>
                  <a:schemeClr val="tx1"/>
                </a:solidFill>
                <a:effectLst/>
              </a:rPr>
              <a:t>✅ Backend coded in Java following UML structure</a:t>
            </a:r>
            <a:br>
              <a:rPr kumimoji="0" lang="en-US" altLang="en-US" sz="2400" b="0" i="0" u="none" strike="noStrike" cap="none" normalizeH="0" baseline="0" dirty="0" smtClean="0">
                <a:ln>
                  <a:noFill/>
                </a:ln>
                <a:solidFill>
                  <a:schemeClr val="tx1"/>
                </a:solidFill>
                <a:effectLst/>
              </a:rPr>
            </a:br>
            <a:r>
              <a:rPr kumimoji="0" lang="en-US" altLang="en-US" sz="2400" b="0" i="0" u="none" strike="noStrike" cap="none" normalizeH="0" baseline="0" dirty="0" smtClean="0">
                <a:ln>
                  <a:noFill/>
                </a:ln>
                <a:solidFill>
                  <a:schemeClr val="tx1"/>
                </a:solidFill>
                <a:effectLst/>
              </a:rPr>
              <a:t>✅ Implemented shortest path algorithm</a:t>
            </a:r>
            <a:br>
              <a:rPr kumimoji="0" lang="en-US" altLang="en-US" sz="2400" b="0" i="0" u="none" strike="noStrike" cap="none" normalizeH="0" baseline="0" dirty="0" smtClean="0">
                <a:ln>
                  <a:noFill/>
                </a:ln>
                <a:solidFill>
                  <a:schemeClr val="tx1"/>
                </a:solidFill>
                <a:effectLst/>
              </a:rPr>
            </a:br>
            <a:r>
              <a:rPr kumimoji="0" lang="en-US" altLang="en-US" sz="2400" b="0" i="0" u="none" strike="noStrike" cap="none" normalizeH="0" baseline="0" dirty="0" smtClean="0">
                <a:ln>
                  <a:noFill/>
                </a:ln>
                <a:solidFill>
                  <a:schemeClr val="tx1"/>
                </a:solidFill>
                <a:effectLst/>
              </a:rPr>
              <a:t>✅ Data structures optimized for dynamic updates </a:t>
            </a:r>
          </a:p>
          <a:p>
            <a:pPr lvl="0" defTabSz="914400" eaLnBrk="0" fontAlgn="base" hangingPunct="0">
              <a:spcBef>
                <a:spcPct val="0"/>
              </a:spcBef>
              <a:spcAft>
                <a:spcPct val="0"/>
              </a:spcAft>
              <a:buClrTx/>
              <a:buFont typeface="Wingdings" panose="05000000000000000000" pitchFamily="2" charset="2"/>
              <a:buChar char="Ø"/>
            </a:pPr>
            <a:r>
              <a:rPr kumimoji="0" lang="en-US" altLang="en-US" sz="2400" b="1" i="0" u="none" strike="noStrike" cap="none" normalizeH="0" baseline="0" dirty="0" smtClean="0">
                <a:ln>
                  <a:noFill/>
                </a:ln>
                <a:solidFill>
                  <a:schemeClr val="tx1"/>
                </a:solidFill>
                <a:effectLst/>
              </a:rPr>
              <a:t>In Progress</a:t>
            </a:r>
            <a:endParaRPr lang="en-US" altLang="en-US" sz="2400" dirty="0" smtClean="0"/>
          </a:p>
          <a:p>
            <a:pPr marL="457200" lvl="1" indent="0" defTabSz="914400" eaLnBrk="0" fontAlgn="base" hangingPunct="0">
              <a:spcBef>
                <a:spcPct val="0"/>
              </a:spcBef>
              <a:spcAft>
                <a:spcPct val="0"/>
              </a:spcAft>
              <a:buClrTx/>
              <a:buNone/>
            </a:pPr>
            <a:r>
              <a:rPr kumimoji="0" lang="en-US" altLang="en-US" sz="2200" b="0" i="0" u="none" strike="noStrike" cap="none" normalizeH="0" baseline="0" dirty="0" smtClean="0">
                <a:ln>
                  <a:noFill/>
                </a:ln>
                <a:solidFill>
                  <a:schemeClr val="tx1"/>
                </a:solidFill>
                <a:effectLst/>
              </a:rPr>
              <a:t>Web-based UI development with Flask </a:t>
            </a:r>
          </a:p>
          <a:p>
            <a:pPr lvl="0" defTabSz="914400" eaLnBrk="0" fontAlgn="base" hangingPunct="0">
              <a:spcBef>
                <a:spcPct val="0"/>
              </a:spcBef>
              <a:spcAft>
                <a:spcPct val="0"/>
              </a:spcAft>
              <a:buClrTx/>
              <a:buFont typeface="Wingdings" panose="05000000000000000000" pitchFamily="2" charset="2"/>
              <a:buChar char="Ø"/>
            </a:pPr>
            <a:r>
              <a:rPr kumimoji="0" lang="en-US" altLang="en-US" sz="2400" b="1" i="0" u="none" strike="noStrike" cap="none" normalizeH="0" baseline="0" dirty="0" smtClean="0">
                <a:ln>
                  <a:noFill/>
                </a:ln>
                <a:solidFill>
                  <a:schemeClr val="tx1"/>
                </a:solidFill>
                <a:effectLst/>
              </a:rPr>
              <a:t>Upcoming</a:t>
            </a:r>
            <a:r>
              <a:rPr kumimoji="0" lang="en-US" altLang="en-US" sz="2400" b="0" i="0" u="none" strike="noStrike" cap="none" normalizeH="0" baseline="0" dirty="0" smtClean="0">
                <a:ln>
                  <a:noFill/>
                </a:ln>
                <a:solidFill>
                  <a:schemeClr val="tx1"/>
                </a:solidFill>
                <a:effectLst/>
              </a:rPr>
              <a:t/>
            </a:r>
            <a:br>
              <a:rPr kumimoji="0" lang="en-US" altLang="en-US" sz="2400" b="0" i="0" u="none" strike="noStrike" cap="none" normalizeH="0" baseline="0" dirty="0" smtClean="0">
                <a:ln>
                  <a:noFill/>
                </a:ln>
                <a:solidFill>
                  <a:schemeClr val="tx1"/>
                </a:solidFill>
                <a:effectLst/>
              </a:rPr>
            </a:br>
            <a:r>
              <a:rPr kumimoji="0" lang="en-US" altLang="en-US" sz="2400" b="0" i="0" u="none" strike="noStrike" cap="none" normalizeH="0" baseline="0" dirty="0" smtClean="0">
                <a:ln>
                  <a:noFill/>
                </a:ln>
                <a:solidFill>
                  <a:schemeClr val="tx1"/>
                </a:solidFill>
                <a:effectLst/>
              </a:rPr>
              <a:t> Integration of real-time location-based features</a:t>
            </a:r>
            <a:br>
              <a:rPr kumimoji="0" lang="en-US" altLang="en-US" sz="2400" b="0" i="0" u="none" strike="noStrike" cap="none" normalizeH="0" baseline="0" dirty="0" smtClean="0">
                <a:ln>
                  <a:noFill/>
                </a:ln>
                <a:solidFill>
                  <a:schemeClr val="tx1"/>
                </a:solidFill>
                <a:effectLst/>
              </a:rPr>
            </a:br>
            <a:r>
              <a:rPr kumimoji="0" lang="en-US" altLang="en-US" sz="2400" b="0" i="0" u="none" strike="noStrike" cap="none" normalizeH="0" baseline="0" dirty="0" smtClean="0">
                <a:ln>
                  <a:noFill/>
                </a:ln>
                <a:solidFill>
                  <a:schemeClr val="tx1"/>
                </a:solidFill>
                <a:effectLst/>
              </a:rPr>
              <a:t> Future migration to a mobile app </a:t>
            </a:r>
          </a:p>
        </p:txBody>
      </p:sp>
    </p:spTree>
    <p:extLst>
      <p:ext uri="{BB962C8B-B14F-4D97-AF65-F5344CB8AC3E}">
        <p14:creationId xmlns:p14="http://schemas.microsoft.com/office/powerpoint/2010/main" val="2377759213"/>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CONCLUSION</a:t>
            </a:r>
            <a:endParaRPr lang="en-IN" dirty="0"/>
          </a:p>
        </p:txBody>
      </p:sp>
      <p:sp>
        <p:nvSpPr>
          <p:cNvPr id="4" name="Rectangle 1"/>
          <p:cNvSpPr>
            <a:spLocks noGrp="1" noChangeArrowheads="1"/>
          </p:cNvSpPr>
          <p:nvPr>
            <p:ph idx="1"/>
          </p:nvPr>
        </p:nvSpPr>
        <p:spPr bwMode="auto">
          <a:xfrm>
            <a:off x="818712" y="3071046"/>
            <a:ext cx="9236055"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sz="2400" i="0" u="none" strike="noStrike" cap="none" normalizeH="0" baseline="0" dirty="0" smtClean="0">
                <a:ln>
                  <a:noFill/>
                </a:ln>
                <a:solidFill>
                  <a:schemeClr val="tx1"/>
                </a:solidFill>
                <a:effectLst/>
                <a:latin typeface="Arial" panose="020B0604020202020204" pitchFamily="34" charset="0"/>
              </a:rPr>
              <a:t>We have made significant progress made since the first review! </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sz="2400" i="0" u="none" strike="noStrike" cap="none" normalizeH="0" baseline="0" dirty="0" smtClean="0">
                <a:ln>
                  <a:noFill/>
                </a:ln>
                <a:solidFill>
                  <a:schemeClr val="tx1"/>
                </a:solidFill>
                <a:effectLst/>
                <a:latin typeface="Arial" panose="020B0604020202020204" pitchFamily="34" charset="0"/>
              </a:rPr>
              <a:t>Fully implemented backend in Java following the UML design. </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lang="en-US" altLang="en-US" sz="2400" dirty="0" smtClean="0">
                <a:latin typeface="Arial" panose="020B0604020202020204" pitchFamily="34" charset="0"/>
              </a:rPr>
              <a:t>Currently developing the frontend too.</a:t>
            </a:r>
            <a:endParaRPr kumimoji="0" lang="en-US" altLang="en-US" sz="2400" i="0" u="none" strike="noStrike" cap="none" normalizeH="0" baseline="0" dirty="0" smtClean="0">
              <a:ln>
                <a:noFill/>
              </a:ln>
              <a:solidFill>
                <a:schemeClr val="tx1"/>
              </a:solidFill>
              <a:effectLst/>
              <a:latin typeface="Arial" panose="020B0604020202020204" pitchFamily="34" charset="0"/>
            </a:endParaRP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sz="2400" i="0" u="none" strike="noStrike" cap="none" normalizeH="0" baseline="0" dirty="0" smtClean="0">
                <a:ln>
                  <a:noFill/>
                </a:ln>
                <a:solidFill>
                  <a:schemeClr val="tx1"/>
                </a:solidFill>
                <a:effectLst/>
                <a:latin typeface="Arial" panose="020B0604020202020204" pitchFamily="34" charset="0"/>
              </a:rPr>
              <a:t>Next Steps: We will Complete frontend and integrate real-time </a:t>
            </a:r>
          </a:p>
          <a:p>
            <a:pPr marL="0" marR="0" lvl="0" indent="0" algn="l" defTabSz="914400" rtl="0" eaLnBrk="0" fontAlgn="base" latinLnBrk="0" hangingPunct="0">
              <a:lnSpc>
                <a:spcPct val="100000"/>
              </a:lnSpc>
              <a:spcBef>
                <a:spcPct val="0"/>
              </a:spcBef>
              <a:spcAft>
                <a:spcPct val="0"/>
              </a:spcAft>
              <a:buClrTx/>
              <a:buSzTx/>
              <a:buNone/>
              <a:tabLst/>
            </a:pPr>
            <a:r>
              <a:rPr lang="en-US" altLang="en-US" sz="2400" dirty="0" smtClean="0">
                <a:latin typeface="Arial" panose="020B0604020202020204" pitchFamily="34" charset="0"/>
              </a:rPr>
              <a:t>                        </a:t>
            </a:r>
            <a:r>
              <a:rPr kumimoji="0" lang="en-US" altLang="en-US" sz="2400" i="0" u="none" strike="noStrike" cap="none" normalizeH="0" baseline="0" dirty="0" smtClean="0">
                <a:ln>
                  <a:noFill/>
                </a:ln>
                <a:solidFill>
                  <a:schemeClr val="tx1"/>
                </a:solidFill>
                <a:effectLst/>
                <a:latin typeface="Arial" panose="020B0604020202020204" pitchFamily="34" charset="0"/>
              </a:rPr>
              <a:t>navigation features.</a:t>
            </a:r>
          </a:p>
        </p:txBody>
      </p:sp>
    </p:spTree>
    <p:extLst>
      <p:ext uri="{BB962C8B-B14F-4D97-AF65-F5344CB8AC3E}">
        <p14:creationId xmlns:p14="http://schemas.microsoft.com/office/powerpoint/2010/main" val="2473215975"/>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Quotable">
  <a:themeElements>
    <a:clrScheme name="Quotable">
      <a:dk1>
        <a:sysClr val="windowText" lastClr="000000"/>
      </a:dk1>
      <a:lt1>
        <a:sysClr val="window" lastClr="FFFFFF"/>
      </a:lt1>
      <a:dk2>
        <a:srgbClr val="212121"/>
      </a:dk2>
      <a:lt2>
        <a:srgbClr val="636363"/>
      </a:lt2>
      <a:accent1>
        <a:srgbClr val="00C6BB"/>
      </a:accent1>
      <a:accent2>
        <a:srgbClr val="6FEBA0"/>
      </a:accent2>
      <a:accent3>
        <a:srgbClr val="B6DF5E"/>
      </a:accent3>
      <a:accent4>
        <a:srgbClr val="EFB251"/>
      </a:accent4>
      <a:accent5>
        <a:srgbClr val="EF755F"/>
      </a:accent5>
      <a:accent6>
        <a:srgbClr val="ED515C"/>
      </a:accent6>
      <a:hlink>
        <a:srgbClr val="8F8F8F"/>
      </a:hlink>
      <a:folHlink>
        <a:srgbClr val="A5A5A5"/>
      </a:folHlink>
    </a:clrScheme>
    <a:fontScheme name="Quotable">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Quotable">
      <a:fillStyleLst>
        <a:solidFill>
          <a:schemeClr val="phClr"/>
        </a:solidFill>
        <a:gradFill rotWithShape="1">
          <a:gsLst>
            <a:gs pos="0">
              <a:schemeClr val="phClr">
                <a:tint val="80000"/>
                <a:lumMod val="105000"/>
              </a:schemeClr>
            </a:gs>
            <a:gs pos="100000">
              <a:schemeClr val="phClr">
                <a:tint val="90000"/>
              </a:schemeClr>
            </a:gs>
          </a:gsLst>
          <a:lin ang="5400000" scaled="0"/>
        </a:gradFill>
        <a:blipFill rotWithShape="1">
          <a:blip xmlns:r="http://schemas.openxmlformats.org/officeDocument/2006/relationships" r:embed="rId1">
            <a:duotone>
              <a:schemeClr val="phClr">
                <a:tint val="98000"/>
                <a:lumMod val="102000"/>
              </a:schemeClr>
              <a:schemeClr val="phClr">
                <a:shade val="98000"/>
                <a:lumMod val="98000"/>
              </a:schemeClr>
            </a:duotone>
          </a:blip>
          <a:tile tx="0" ty="0" sx="100000" sy="100000" flip="none" algn="tl"/>
        </a:blipFill>
      </a:fillStyleLst>
      <a:lnStyleLst>
        <a:ln w="9525" cap="rnd" cmpd="sng" algn="ctr">
          <a:solidFill>
            <a:schemeClr val="ph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effectStyle>
        <a:effectStyle>
          <a:effectLst>
            <a:innerShdw blurRad="63500" dist="25400" dir="13500000">
              <a:srgbClr val="000000">
                <a:alpha val="75000"/>
              </a:srgbClr>
            </a:innerShdw>
          </a:effectLst>
        </a:effectStyle>
      </a:effectStyleLst>
      <a:bgFillStyleLst>
        <a:solidFill>
          <a:schemeClr val="phClr"/>
        </a:solidFill>
        <a:gradFill rotWithShape="1">
          <a:gsLst>
            <a:gs pos="0">
              <a:schemeClr val="phClr">
                <a:tint val="100000"/>
              </a:schemeClr>
            </a:gs>
            <a:gs pos="100000">
              <a:schemeClr val="phClr">
                <a:tint val="84000"/>
                <a:shade val="84000"/>
                <a:lumMod val="90000"/>
              </a:schemeClr>
            </a:gs>
          </a:gsLst>
          <a:lin ang="5400000" scaled="0"/>
        </a:gradFill>
        <a:gradFill rotWithShape="1">
          <a:gsLst>
            <a:gs pos="0">
              <a:schemeClr val="phClr">
                <a:tint val="84000"/>
                <a:shade val="90000"/>
                <a:satMod val="120000"/>
                <a:lumMod val="90000"/>
              </a:schemeClr>
            </a:gs>
            <a:gs pos="100000">
              <a:schemeClr val="phClr"/>
            </a:gs>
          </a:gsLst>
          <a:lin ang="5400000" scaled="0"/>
        </a:gradFill>
      </a:bgFillStyleLst>
    </a:fmtScheme>
  </a:themeElements>
  <a:objectDefaults/>
  <a:extraClrSchemeLst/>
  <a:extLst>
    <a:ext uri="{05A4C25C-085E-4340-85A3-A5531E510DB2}">
      <thm15:themeFamily xmlns:thm15="http://schemas.microsoft.com/office/thememl/2012/main" name="Quotable" id="{39EC5628-30ED-4578-ACD8-9820EDB8E15A}" vid="{6F3559E9-1A4C-49D8-94D4-F41003531C49}"/>
    </a:ext>
  </a:extLst>
</a:theme>
</file>

<file path=docProps/app.xml><?xml version="1.0" encoding="utf-8"?>
<Properties xmlns="http://schemas.openxmlformats.org/officeDocument/2006/extended-properties" xmlns:vt="http://schemas.openxmlformats.org/officeDocument/2006/docPropsVTypes">
  <Template>Quotable</Template>
  <TotalTime>165</TotalTime>
  <Words>541</Words>
  <Application>Microsoft Office PowerPoint</Application>
  <PresentationFormat>Widescreen</PresentationFormat>
  <Paragraphs>69</Paragraphs>
  <Slides>11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Arial</vt:lpstr>
      <vt:lpstr>Century Gothic</vt:lpstr>
      <vt:lpstr>Wingdings</vt:lpstr>
      <vt:lpstr>Wingdings 2</vt:lpstr>
      <vt:lpstr>Quotable</vt:lpstr>
      <vt:lpstr>CAMPUS NAVIGATION SYSTEM</vt:lpstr>
      <vt:lpstr>INTRODUCTION</vt:lpstr>
      <vt:lpstr>PowerPoint Presentation</vt:lpstr>
      <vt:lpstr>RESEARCH GAP</vt:lpstr>
      <vt:lpstr>PROBLEM STATEMENT</vt:lpstr>
      <vt:lpstr>METHODOLOGY</vt:lpstr>
      <vt:lpstr>Additional Features &amp; Future Enhancements</vt:lpstr>
      <vt:lpstr>DATA STRUCTURES USED</vt:lpstr>
      <vt:lpstr>OOPS Concepts Used</vt:lpstr>
      <vt:lpstr>Current Status and Expected Outcomes</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CAMPUS NAVIGATION SYSTEM</dc:title>
  <dc:creator>Ranjith Raja BS</dc:creator>
  <cp:lastModifiedBy>Ranjith Raja BS</cp:lastModifiedBy>
  <cp:revision>10</cp:revision>
  <dcterms:created xsi:type="dcterms:W3CDTF">2025-03-09T02:30:32Z</dcterms:created>
  <dcterms:modified xsi:type="dcterms:W3CDTF">2025-03-09T05:16:06Z</dcterms:modified>
</cp:coreProperties>
</file>