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8" r:id="rId5"/>
    <p:sldId id="269" r:id="rId6"/>
    <p:sldId id="259" r:id="rId7"/>
    <p:sldId id="270" r:id="rId8"/>
    <p:sldId id="272" r:id="rId9"/>
    <p:sldId id="271" r:id="rId10"/>
    <p:sldId id="266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" panose="020B0604020202020204" charset="0"/>
      <p:regular r:id="rId17"/>
    </p:embeddedFont>
    <p:embeddedFont>
      <p:font typeface="Arial Black" panose="020B0A04020102020204" pitchFamily="34" charset="0"/>
      <p:bold r:id="rId18"/>
    </p:embeddedFont>
    <p:embeddedFont>
      <p:font typeface="Anton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6" autoAdjust="0"/>
    <p:restoredTop sz="94622" autoAdjust="0"/>
  </p:normalViewPr>
  <p:slideViewPr>
    <p:cSldViewPr>
      <p:cViewPr varScale="1">
        <p:scale>
          <a:sx n="69" d="100"/>
          <a:sy n="69" d="100"/>
        </p:scale>
        <p:origin x="3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3C53A-08C5-487E-A493-BAEC965BBF6B}" type="datetimeFigureOut">
              <a:rPr lang="en-IN" smtClean="0"/>
              <a:t>04-02-2025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6E1AE-ACDE-4F21-8313-1F0B6A35E8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94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6E1AE-ACDE-4F21-8313-1F0B6A35E8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773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6E1AE-ACDE-4F21-8313-1F0B6A35E8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004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26E1AE-ACDE-4F21-8313-1F0B6A35E8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799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34815" y="-4002497"/>
            <a:ext cx="10066789" cy="8229600"/>
          </a:xfrm>
          <a:custGeom>
            <a:avLst/>
            <a:gdLst/>
            <a:ahLst/>
            <a:cxnLst/>
            <a:rect l="l" t="t" r="r" b="b"/>
            <a:pathLst>
              <a:path w="10066789" h="8229600">
                <a:moveTo>
                  <a:pt x="0" y="0"/>
                </a:moveTo>
                <a:lnTo>
                  <a:pt x="10066789" y="0"/>
                </a:lnTo>
                <a:lnTo>
                  <a:pt x="100667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387220">
            <a:off x="-5378291" y="4227103"/>
            <a:ext cx="10066789" cy="8229600"/>
          </a:xfrm>
          <a:custGeom>
            <a:avLst/>
            <a:gdLst/>
            <a:ahLst/>
            <a:cxnLst/>
            <a:rect l="l" t="t" r="r" b="b"/>
            <a:pathLst>
              <a:path w="10066789" h="8229600">
                <a:moveTo>
                  <a:pt x="0" y="0"/>
                </a:moveTo>
                <a:lnTo>
                  <a:pt x="10066789" y="0"/>
                </a:lnTo>
                <a:lnTo>
                  <a:pt x="100667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1828800" y="3390900"/>
            <a:ext cx="1550712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0" dirty="0" smtClean="0">
                <a:solidFill>
                  <a:srgbClr val="FF00FF"/>
                </a:solidFill>
                <a:latin typeface="Anton" panose="020B0604020202020204" charset="0"/>
              </a:rPr>
              <a:t>CAMPUS NAVIGATION SYSTEM</a:t>
            </a:r>
            <a:endParaRPr lang="en-IN" sz="15000" dirty="0">
              <a:solidFill>
                <a:srgbClr val="FF00FF"/>
              </a:solidFill>
              <a:latin typeface="Anton" panose="020B06040202020202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10000" y="624539"/>
            <a:ext cx="1112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0" dirty="0" smtClean="0">
                <a:solidFill>
                  <a:schemeClr val="bg1"/>
                </a:solidFill>
                <a:latin typeface="Anton" panose="020B0604020202020204" charset="0"/>
              </a:rPr>
              <a:t>DSA AND OOPs IN JAVA</a:t>
            </a:r>
            <a:endParaRPr lang="en-IN" sz="9000" dirty="0">
              <a:solidFill>
                <a:schemeClr val="bg1"/>
              </a:solidFill>
              <a:latin typeface="Anton" panose="020B06040202020202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182600" y="7429500"/>
            <a:ext cx="4038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FF0000"/>
                </a:solidFill>
              </a:rPr>
              <a:t>AIE C</a:t>
            </a:r>
          </a:p>
          <a:p>
            <a:r>
              <a:rPr lang="en-IN" sz="2400" b="1" dirty="0" smtClean="0">
                <a:solidFill>
                  <a:srgbClr val="FF0000"/>
                </a:solidFill>
              </a:rPr>
              <a:t>TEAM 1:</a:t>
            </a:r>
          </a:p>
          <a:p>
            <a:r>
              <a:rPr lang="en-IN" sz="2400" b="1" dirty="0" err="1" smtClean="0">
                <a:solidFill>
                  <a:srgbClr val="FF0000"/>
                </a:solidFill>
              </a:rPr>
              <a:t>Advaith</a:t>
            </a:r>
            <a:r>
              <a:rPr lang="en-IN" sz="2400" b="1" dirty="0" smtClean="0">
                <a:solidFill>
                  <a:srgbClr val="FF0000"/>
                </a:solidFill>
              </a:rPr>
              <a:t> </a:t>
            </a:r>
            <a:r>
              <a:rPr lang="en-IN" sz="2400" b="1" dirty="0" err="1" smtClean="0">
                <a:solidFill>
                  <a:srgbClr val="FF0000"/>
                </a:solidFill>
              </a:rPr>
              <a:t>Krihsna</a:t>
            </a:r>
            <a:r>
              <a:rPr lang="en-IN" sz="2400" b="1" dirty="0" smtClean="0">
                <a:solidFill>
                  <a:srgbClr val="FF0000"/>
                </a:solidFill>
              </a:rPr>
              <a:t> – 24203</a:t>
            </a:r>
          </a:p>
          <a:p>
            <a:r>
              <a:rPr lang="en-IN" sz="2400" b="1" dirty="0" err="1" smtClean="0">
                <a:solidFill>
                  <a:srgbClr val="FF0000"/>
                </a:solidFill>
              </a:rPr>
              <a:t>Amudala</a:t>
            </a:r>
            <a:r>
              <a:rPr lang="en-IN" sz="2400" b="1" dirty="0" smtClean="0">
                <a:solidFill>
                  <a:srgbClr val="FF0000"/>
                </a:solidFill>
              </a:rPr>
              <a:t> </a:t>
            </a:r>
            <a:r>
              <a:rPr lang="en-IN" sz="2400" b="1" dirty="0" err="1" smtClean="0">
                <a:solidFill>
                  <a:srgbClr val="FF0000"/>
                </a:solidFill>
              </a:rPr>
              <a:t>Jashwanth</a:t>
            </a:r>
            <a:r>
              <a:rPr lang="en-IN" sz="2400" b="1" dirty="0" smtClean="0">
                <a:solidFill>
                  <a:srgbClr val="FF0000"/>
                </a:solidFill>
              </a:rPr>
              <a:t> – 24204</a:t>
            </a:r>
          </a:p>
          <a:p>
            <a:r>
              <a:rPr lang="en-IN" sz="2400" b="1" dirty="0" smtClean="0">
                <a:solidFill>
                  <a:srgbClr val="FF0000"/>
                </a:solidFill>
              </a:rPr>
              <a:t>Ranjith Raja B - 24250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684062"/>
            <a:ext cx="1924145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57200" y="2394883"/>
            <a:ext cx="17678400" cy="6863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What is a Campus Navigation System</a:t>
            </a:r>
            <a:r>
              <a:rPr lang="en-US" sz="3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?</a:t>
            </a:r>
            <a:endParaRPr lang="en-US" sz="32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A digital solution to help students, faculty, and visitors navigate a university campus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Uses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graph-based </a:t>
            </a:r>
            <a:r>
              <a:rPr lang="en-U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modelling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where buildings are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nodes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and pathways are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edges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Implements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shortest path algorithms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like 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Dijkstra’s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Algorithm to find the most optimal route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endParaRPr lang="en-US" sz="3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Why is it </a:t>
            </a:r>
            <a:r>
              <a:rPr lang="en-US" sz="3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Needed?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Large </a:t>
            </a:r>
            <a:r>
              <a:rPr lang="en-US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campuses can be confusing for newcomers.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Helps </a:t>
            </a:r>
            <a:r>
              <a:rPr lang="en-US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users </a:t>
            </a:r>
            <a:r>
              <a:rPr lang="en-US" alt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find the shortest and most efficient route</a:t>
            </a:r>
            <a:r>
              <a:rPr lang="en-US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to their destination.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Future </a:t>
            </a:r>
            <a:r>
              <a:rPr lang="en-US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enhancements may include </a:t>
            </a:r>
            <a:r>
              <a:rPr lang="en-US" alt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GPS tracking and interactive maps</a:t>
            </a:r>
            <a:r>
              <a:rPr lang="en-US" alt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. </a:t>
            </a:r>
            <a:endParaRPr lang="en-US" sz="3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43600" y="-10391"/>
            <a:ext cx="8214292" cy="1779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17"/>
              </a:lnSpc>
              <a:spcBef>
                <a:spcPct val="0"/>
              </a:spcBef>
            </a:pPr>
            <a:r>
              <a:rPr lang="en-US" sz="10584" dirty="0" smtClean="0">
                <a:solidFill>
                  <a:srgbClr val="FF00FF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  <a:endParaRPr lang="en-US" sz="10584" dirty="0">
              <a:solidFill>
                <a:srgbClr val="FF00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725365" y="480269"/>
            <a:ext cx="850192" cy="104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  <a:spcBef>
                <a:spcPct val="0"/>
              </a:spcBef>
            </a:pPr>
            <a:r>
              <a:rPr lang="en-US" sz="609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166" b="-8316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96844" y="5029962"/>
            <a:ext cx="9534533" cy="42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96844" y="2803249"/>
            <a:ext cx="5857883" cy="177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7"/>
              </a:lnSpc>
              <a:spcBef>
                <a:spcPct val="0"/>
              </a:spcBef>
            </a:pPr>
            <a:r>
              <a:rPr lang="en-US" sz="10584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endParaRPr lang="en-US" sz="10584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412" y="9410700"/>
            <a:ext cx="850192" cy="104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  <a:spcBef>
                <a:spcPct val="0"/>
              </a:spcBef>
            </a:pPr>
            <a:r>
              <a:rPr lang="en-US" sz="6095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lang="en-US" sz="6095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91000" y="306890"/>
            <a:ext cx="953453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0" dirty="0" smtClean="0">
                <a:solidFill>
                  <a:schemeClr val="bg1"/>
                </a:solidFill>
                <a:latin typeface="Anton" panose="020B0604020202020204" charset="0"/>
              </a:rPr>
              <a:t>RESEARCH </a:t>
            </a:r>
            <a:r>
              <a:rPr lang="en-IN" sz="11000" dirty="0" smtClean="0">
                <a:solidFill>
                  <a:srgbClr val="FF00FF"/>
                </a:solidFill>
                <a:latin typeface="Anton" panose="020B0604020202020204" charset="0"/>
              </a:rPr>
              <a:t>GAPS</a:t>
            </a:r>
            <a:endParaRPr lang="en-IN" sz="11000" dirty="0">
              <a:solidFill>
                <a:srgbClr val="FF00FF"/>
              </a:solidFill>
              <a:latin typeface="Anton" panose="020B06040202020202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3656" y="2315587"/>
            <a:ext cx="17874343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Lack </a:t>
            </a:r>
            <a: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>of Dynamic Graph Updates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Most existing navigation systems use a static campus map, which does not account for real-time changes in </a:t>
            </a:r>
            <a:r>
              <a:rPr lang="en-US" sz="3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infrastructure.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A dynamic graph-based approach is needed to allow modifications like adding/removing nodes (buildings) and edges (pathways</a:t>
            </a:r>
            <a:r>
              <a:rPr lang="en-US" sz="3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).</a:t>
            </a:r>
          </a:p>
          <a:p>
            <a:pPr lvl="1"/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>Limited User Interactivity &amp; Customization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Existing systems primarily provide predefined routes without allowing users to customize paths based on preferences (e.g., shortest </a:t>
            </a:r>
            <a:r>
              <a:rPr lang="en-US" sz="3600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distance,etc</a:t>
            </a:r>
            <a:r>
              <a:rPr lang="en-US" sz="3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).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There is a need for a more interactive UI, enabling users to select preferences such as scenic routes, shaded paths, or accessibility-friendly routes</a:t>
            </a:r>
            <a:r>
              <a:rPr lang="en-US" sz="3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lvl="1"/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166" b="-8316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96844" y="5029962"/>
            <a:ext cx="9534533" cy="42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96844" y="2803249"/>
            <a:ext cx="5857883" cy="177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7"/>
              </a:lnSpc>
              <a:spcBef>
                <a:spcPct val="0"/>
              </a:spcBef>
            </a:pPr>
            <a:r>
              <a:rPr lang="en-US" sz="10584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endParaRPr lang="en-US" sz="10584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8600" y="9226781"/>
            <a:ext cx="850192" cy="104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  <a:spcBef>
                <a:spcPct val="0"/>
              </a:spcBef>
            </a:pPr>
            <a:r>
              <a:rPr lang="en-US" sz="6095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lang="en-US" sz="6095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1124586"/>
            <a:ext cx="17754600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3.  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Scalability Issues in Large Campuses: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6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Some algorithms used in previous research struggle with efficiency in large-scale campus environments where there are hundreds of buildings and pathways.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6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Optimized graph traversal techniques (e.g., A* search or bidirectional </a:t>
            </a:r>
            <a:r>
              <a:rPr kumimoji="0" lang="en-US" altLang="en-US" sz="360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Dijkstra’s</a:t>
            </a:r>
            <a:r>
              <a:rPr kumimoji="0" lang="en-US" altLang="en-US" sz="36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 Algorithm) could improve computational efficiency for large campuses.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60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4.  </a:t>
            </a: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Lack of AI-Based Navigation Optimization: (Future work)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6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Existing solutions typically rely on basic shortest path algorithms without considering dynamic factors like crowd congestion, weather conditions, or real-time events.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60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Implementing AI-based route optimization can provide users with more intelligent path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38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166" b="-8316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96844" y="5029962"/>
            <a:ext cx="9534533" cy="42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96844" y="2803249"/>
            <a:ext cx="5857883" cy="177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17"/>
              </a:lnSpc>
              <a:spcBef>
                <a:spcPct val="0"/>
              </a:spcBef>
            </a:pPr>
            <a:r>
              <a:rPr lang="en-US" sz="10584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endParaRPr lang="en-US" sz="10584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602200" y="9486900"/>
            <a:ext cx="850192" cy="104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  <a:spcBef>
                <a:spcPct val="0"/>
              </a:spcBef>
            </a:pPr>
            <a:r>
              <a:rPr lang="en-US" sz="6095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 lang="en-US" sz="6095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81400" y="-59900"/>
            <a:ext cx="1185454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0" dirty="0" smtClean="0">
                <a:solidFill>
                  <a:schemeClr val="bg1"/>
                </a:solidFill>
                <a:latin typeface="Anton" panose="020B0604020202020204" charset="0"/>
              </a:rPr>
              <a:t>PROBLEM </a:t>
            </a:r>
            <a:r>
              <a:rPr lang="en-IN" sz="11000" dirty="0" smtClean="0">
                <a:solidFill>
                  <a:srgbClr val="FF00FF"/>
                </a:solidFill>
                <a:latin typeface="Anton" panose="020B0604020202020204" charset="0"/>
              </a:rPr>
              <a:t>STATEMENT</a:t>
            </a:r>
            <a:endParaRPr lang="en-IN" sz="11000" dirty="0">
              <a:solidFill>
                <a:srgbClr val="FF00FF"/>
              </a:solidFill>
              <a:latin typeface="Anton" panose="020B06040202020202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1445002"/>
            <a:ext cx="18117671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New entry students often find it difficult to navigate through large campuses. </a:t>
            </a:r>
          </a:p>
          <a:p>
            <a:endParaRPr lang="en-US" sz="2600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Traditional static maps and signboards are often insufficient, leading to time loss, confusion, and inefficiency. Existing digital solutions either lack dynamic updates, do not integrate real-time positioning (GPS), or fail to provide customizable route options. </a:t>
            </a:r>
          </a:p>
          <a:p>
            <a:endParaRPr lang="en-US" sz="2600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Additionally, most systems do not account for changes in campus layouts due to construction, closed pathways, or new buildings.</a:t>
            </a:r>
          </a:p>
          <a:p>
            <a:endParaRPr lang="en-US" sz="2600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To address these challenges, we propose a graph-based Campus Navigation System that models the campus as a dynamic weighted graph, using </a:t>
            </a:r>
            <a:r>
              <a:rPr lang="en-US" sz="2600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Dijkstra’s</a:t>
            </a:r>
            <a:r>
              <a:rPr lang="en-US" sz="2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Algorithm to compute the shortest and most efficient path between any two locations. </a:t>
            </a:r>
          </a:p>
          <a:p>
            <a:endParaRPr lang="en-US" sz="2600" b="1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The system will provide an interactive JavaFX-based user interface, allowing users to input their current location and destination, view the recommended route, and receive real-time navigation assistance.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IN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 “Developing </a:t>
            </a:r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a dynamic, graph-based Campus Navigation System using </a:t>
            </a:r>
            <a:r>
              <a:rPr lang="en-IN" sz="2800" dirty="0" err="1">
                <a:solidFill>
                  <a:schemeClr val="bg1"/>
                </a:solidFill>
                <a:latin typeface="Arial Black" panose="020B0A04020102020204" pitchFamily="34" charset="0"/>
              </a:rPr>
              <a:t>Dijkstra’s</a:t>
            </a:r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8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N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Algorithm </a:t>
            </a:r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and JavaFX to provide real-time, efficient, and customizable route guidance for </a:t>
            </a:r>
            <a:endParaRPr lang="en-IN" sz="28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IN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students </a:t>
            </a:r>
            <a:r>
              <a:rPr lang="en-IN" sz="2800" dirty="0">
                <a:solidFill>
                  <a:schemeClr val="bg1"/>
                </a:solidFill>
                <a:latin typeface="Arial Black" panose="020B0A04020102020204" pitchFamily="34" charset="0"/>
              </a:rPr>
              <a:t>and visitors</a:t>
            </a:r>
            <a:r>
              <a:rPr lang="en-IN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.”</a:t>
            </a:r>
            <a:endParaRPr lang="en-IN" sz="2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95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684062"/>
            <a:ext cx="1924145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28600" y="2021807"/>
            <a:ext cx="8605560" cy="42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953000" y="38100"/>
            <a:ext cx="8305800" cy="1779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17"/>
              </a:lnSpc>
              <a:spcBef>
                <a:spcPct val="0"/>
              </a:spcBef>
            </a:pPr>
            <a:r>
              <a:rPr lang="en-US" sz="10584" dirty="0" smtClean="0">
                <a:solidFill>
                  <a:srgbClr val="FF00FF"/>
                </a:solidFill>
                <a:latin typeface="Anton"/>
                <a:ea typeface="Anton"/>
                <a:cs typeface="Anton"/>
                <a:sym typeface="Anton"/>
              </a:rPr>
              <a:t>METHODOLOGY</a:t>
            </a:r>
            <a:r>
              <a:rPr lang="en-US" sz="10584" dirty="0" smtClean="0">
                <a:solidFill>
                  <a:srgbClr val="FF00FF"/>
                </a:solidFill>
                <a:latin typeface="Anton"/>
                <a:ea typeface="Anton"/>
                <a:cs typeface="Anton"/>
                <a:sym typeface="Anton"/>
              </a:rPr>
              <a:t>  </a:t>
            </a:r>
            <a:endParaRPr lang="en-US" sz="10584" dirty="0">
              <a:solidFill>
                <a:srgbClr val="FF00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725365" y="480269"/>
            <a:ext cx="850192" cy="104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  <a:spcBef>
                <a:spcPct val="0"/>
              </a:spcBef>
            </a:pPr>
            <a:r>
              <a:rPr lang="en-US" sz="6095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06</a:t>
            </a:r>
            <a:endParaRPr lang="en-US" sz="6095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" y="2021807"/>
            <a:ext cx="177546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1)</a:t>
            </a:r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Graph </a:t>
            </a:r>
            <a:r>
              <a:rPr lang="en-US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Representation of Campus</a:t>
            </a:r>
          </a:p>
          <a:p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The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campus is modeled as a graph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, where: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Nodes (Vertices)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represent buildings, landmarks, and key locations.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Edges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represent the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pathways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between locations, with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weights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corresponding to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distance or travel time</a:t>
            </a:r>
            <a:r>
              <a:rPr lang="en-US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The graph is implemented using </a:t>
            </a:r>
            <a:r>
              <a:rPr lang="en-US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 tree structure 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for efficient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storage and traversal</a:t>
            </a:r>
            <a:r>
              <a:rPr lang="en-US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lvl="1"/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8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2) Implementing </a:t>
            </a:r>
            <a:r>
              <a:rPr lang="en-US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Shortest Path Algorithm (</a:t>
            </a:r>
            <a:r>
              <a:rPr lang="en-US" sz="28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Dijkstra’s</a:t>
            </a:r>
            <a:r>
              <a:rPr lang="en-US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 Algorithm</a:t>
            </a:r>
            <a:r>
              <a:rPr lang="en-US" sz="28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)</a:t>
            </a:r>
            <a:endParaRPr lang="en-US" sz="2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Dijkstra’s</a:t>
            </a:r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Algorithm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is used to compute the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shortest path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between two locations.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priority queue (min-heap)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ensures optimal selection of the next shortest path.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The 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algorithm efficiently finds the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least time-consuming or shortest route</a:t>
            </a:r>
            <a:r>
              <a:rPr lang="en-US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lvl="1"/>
            <a:endParaRPr lang="en-US" sz="28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3) </a:t>
            </a:r>
            <a:r>
              <a:rPr lang="en-US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Developing an Interactive User Interface (UI)</a:t>
            </a:r>
          </a:p>
          <a:p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JavaFX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is used to create a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graphical interface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where users can: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Input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current location and destination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View the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shortest route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Explore the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campus map </a:t>
            </a:r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interactively</a:t>
            </a:r>
            <a:r>
              <a:rPr lang="en-US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The 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UI provides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real-time navigation assistance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 with </a:t>
            </a:r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step-by-step directions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lvl="1"/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684062"/>
            <a:ext cx="1924145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900675" y="-3216840"/>
            <a:ext cx="7109038" cy="6433679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28600" y="2021807"/>
            <a:ext cx="8605560" cy="42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725365" y="480269"/>
            <a:ext cx="850192" cy="104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  <a:spcBef>
                <a:spcPct val="0"/>
              </a:spcBef>
            </a:pPr>
            <a:r>
              <a:rPr lang="en-US" sz="6095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07</a:t>
            </a:r>
            <a:endParaRPr lang="en-US" sz="6095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" y="2021807"/>
            <a:ext cx="17754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4) Dynamic </a:t>
            </a: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Graph Updates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The system allows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adding/removing locations and pathways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dynamically to reflect campus changes.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Users can </a:t>
            </a:r>
            <a:r>
              <a:rPr lang="en-U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update routes based on real-time modifications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endParaRPr lang="en-US" sz="3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32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5)</a:t>
            </a: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 Future Enhancements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Real-time GPS Integration: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Use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Wi-Fi/GPS-based tracking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to show live user location.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AI-Based Route Optimization: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Optimize paths based on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traffic, congestion, or real-time events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Mobile App Development: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Extend the system to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Android/iOS platforms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for a more portable solution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2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684062"/>
            <a:ext cx="1924145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900675" y="-3216840"/>
            <a:ext cx="7109038" cy="6433679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28600" y="2021807"/>
            <a:ext cx="8605560" cy="42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92125" y="38100"/>
            <a:ext cx="11776475" cy="1897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817"/>
              </a:lnSpc>
              <a:spcBef>
                <a:spcPct val="0"/>
              </a:spcBef>
            </a:pPr>
            <a:r>
              <a:rPr lang="en-US" sz="10584" dirty="0" smtClean="0">
                <a:solidFill>
                  <a:srgbClr val="FF00FF"/>
                </a:solidFill>
                <a:latin typeface="Anton"/>
                <a:ea typeface="Anton"/>
                <a:cs typeface="Anton"/>
                <a:sym typeface="Anton"/>
              </a:rPr>
              <a:t>DATA STRUCTURES USED</a:t>
            </a:r>
            <a:r>
              <a:rPr lang="en-US" sz="10584" dirty="0" smtClean="0">
                <a:solidFill>
                  <a:srgbClr val="FF00FF"/>
                </a:solidFill>
                <a:latin typeface="Anton"/>
                <a:ea typeface="Anton"/>
                <a:cs typeface="Anton"/>
                <a:sym typeface="Anton"/>
              </a:rPr>
              <a:t>  </a:t>
            </a:r>
            <a:endParaRPr lang="en-US" sz="10584" dirty="0">
              <a:solidFill>
                <a:srgbClr val="FF00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725365" y="480269"/>
            <a:ext cx="850192" cy="104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  <a:spcBef>
                <a:spcPct val="0"/>
              </a:spcBef>
            </a:pPr>
            <a:r>
              <a:rPr lang="en-US" sz="6095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08</a:t>
            </a:r>
            <a:endParaRPr lang="en-US" sz="6095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252869"/>
              </p:ext>
            </p:extLst>
          </p:nvPr>
        </p:nvGraphicFramePr>
        <p:xfrm>
          <a:off x="1286191" y="2099798"/>
          <a:ext cx="15439173" cy="64258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28809">
                  <a:extLst>
                    <a:ext uri="{9D8B030D-6E8A-4147-A177-3AD203B41FA5}">
                      <a16:colId xmlns:a16="http://schemas.microsoft.com/office/drawing/2014/main" val="2125541172"/>
                    </a:ext>
                  </a:extLst>
                </a:gridCol>
                <a:gridCol w="5429347">
                  <a:extLst>
                    <a:ext uri="{9D8B030D-6E8A-4147-A177-3AD203B41FA5}">
                      <a16:colId xmlns:a16="http://schemas.microsoft.com/office/drawing/2014/main" val="1836296872"/>
                    </a:ext>
                  </a:extLst>
                </a:gridCol>
                <a:gridCol w="5581017">
                  <a:extLst>
                    <a:ext uri="{9D8B030D-6E8A-4147-A177-3AD203B41FA5}">
                      <a16:colId xmlns:a16="http://schemas.microsoft.com/office/drawing/2014/main" val="1044236889"/>
                    </a:ext>
                  </a:extLst>
                </a:gridCol>
              </a:tblGrid>
              <a:tr h="1243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effectLst/>
                        </a:rPr>
                        <a:t>Data Structure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effectLst/>
                        </a:rPr>
                        <a:t>Purpose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effectLst/>
                        </a:rPr>
                        <a:t>Usage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9904011"/>
                  </a:ext>
                </a:extLst>
              </a:tr>
              <a:tr h="1190961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en-IN" sz="3200" kern="100" dirty="0" smtClean="0">
                          <a:effectLst/>
                        </a:rPr>
                        <a:t>Graph (Tree)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effectLst/>
                        </a:rPr>
                        <a:t>Campus Navigation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effectLst/>
                        </a:rPr>
                        <a:t>Efficient for storing locations &amp; paths (O(V + E) space complexity)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2296090"/>
                  </a:ext>
                </a:extLst>
              </a:tr>
              <a:tr h="1399421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3200" kern="100" dirty="0" smtClean="0">
                          <a:effectLst/>
                        </a:rPr>
                        <a:t>2)Priority </a:t>
                      </a:r>
                      <a:r>
                        <a:rPr lang="en-IN" sz="3200" kern="100" dirty="0">
                          <a:effectLst/>
                        </a:rPr>
                        <a:t>Queue (Min-Heap)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>
                          <a:effectLst/>
                        </a:rPr>
                        <a:t>Dijkstra’s Algorithm</a:t>
                      </a:r>
                      <a:endParaRPr lang="en-IN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>
                          <a:effectLst/>
                        </a:rPr>
                        <a:t>Ensures shortest path selection (O((V + E) log V) time complexity)</a:t>
                      </a:r>
                      <a:endParaRPr lang="en-IN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77415652"/>
                  </a:ext>
                </a:extLst>
              </a:tr>
              <a:tr h="68388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3200" kern="100" dirty="0" smtClean="0">
                          <a:effectLst/>
                        </a:rPr>
                        <a:t>3)</a:t>
                      </a:r>
                      <a:r>
                        <a:rPr lang="en-IN" sz="3200" kern="100" dirty="0" err="1" smtClean="0">
                          <a:effectLst/>
                        </a:rPr>
                        <a:t>ArrayList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>
                          <a:effectLst/>
                        </a:rPr>
                        <a:t>Storing neighbours in the graph</a:t>
                      </a:r>
                      <a:endParaRPr lang="en-IN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>
                          <a:effectLst/>
                        </a:rPr>
                        <a:t>Fast edge iteration</a:t>
                      </a:r>
                      <a:endParaRPr lang="en-IN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627909"/>
                  </a:ext>
                </a:extLst>
              </a:tr>
              <a:tr h="68388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3200" kern="100" dirty="0" smtClean="0">
                          <a:effectLst/>
                        </a:rPr>
                        <a:t>4)Stack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>
                          <a:effectLst/>
                        </a:rPr>
                        <a:t>Depth-First Search (DFS)</a:t>
                      </a:r>
                      <a:endParaRPr lang="en-IN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>
                          <a:effectLst/>
                        </a:rPr>
                        <a:t>Used for deep path exploration</a:t>
                      </a:r>
                      <a:endParaRPr lang="en-IN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6249603"/>
                  </a:ext>
                </a:extLst>
              </a:tr>
              <a:tr h="68388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3200" kern="100" dirty="0" smtClean="0">
                          <a:effectLst/>
                        </a:rPr>
                        <a:t>5)Queue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>
                          <a:effectLst/>
                        </a:rPr>
                        <a:t>Breadth-First Search (BFS)</a:t>
                      </a:r>
                      <a:endParaRPr lang="en-IN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3200" kern="100" dirty="0">
                          <a:effectLst/>
                        </a:rPr>
                        <a:t>Used for level-wise exploration</a:t>
                      </a:r>
                      <a:endParaRPr lang="en-I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4185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22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0" y="1684062"/>
            <a:ext cx="1924145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900675" y="-3216840"/>
            <a:ext cx="7109038" cy="6433679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28600" y="2021807"/>
            <a:ext cx="8605560" cy="428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24200" y="38100"/>
            <a:ext cx="11201400" cy="1779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817"/>
              </a:lnSpc>
              <a:spcBef>
                <a:spcPct val="0"/>
              </a:spcBef>
            </a:pPr>
            <a:r>
              <a:rPr lang="en-US" sz="10584" dirty="0" smtClean="0">
                <a:solidFill>
                  <a:srgbClr val="FF00FF"/>
                </a:solidFill>
                <a:latin typeface="Anton"/>
                <a:ea typeface="Anton"/>
                <a:cs typeface="Anton"/>
                <a:sym typeface="Anton"/>
              </a:rPr>
              <a:t>EXPECTED OUTCOMES  </a:t>
            </a:r>
            <a:endParaRPr lang="en-US" sz="10584" dirty="0">
              <a:solidFill>
                <a:srgbClr val="FF00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725365" y="480269"/>
            <a:ext cx="850192" cy="1040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3"/>
              </a:lnSpc>
              <a:spcBef>
                <a:spcPct val="0"/>
              </a:spcBef>
            </a:pPr>
            <a:r>
              <a:rPr lang="en-US" sz="6095" dirty="0" smtClean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09</a:t>
            </a:r>
            <a:endParaRPr lang="en-US" sz="6095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-685800" y="1855726"/>
            <a:ext cx="18669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The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Campus Navigation System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is designed to provide an efficient, interactive, and scalable solution for navigating university or college campuses. By implementing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graph-based shortest path algorithms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and a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user-friendly interface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, the system is expected to achieve the following outcomes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</a:p>
          <a:p>
            <a:pPr lvl="2"/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Efficient </a:t>
            </a: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and Optimized </a:t>
            </a:r>
            <a:r>
              <a:rPr lang="en-U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Navigation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Graph-Based 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Data Structure for Campus 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Modeling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Interactive 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and User-Friendly UI (JavaFX-Based</a:t>
            </a:r>
            <a:r>
              <a:rPr lang="en-US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)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Dynamic </a:t>
            </a:r>
            <a:r>
              <a:rPr lang="en-IN" sz="3200" dirty="0">
                <a:solidFill>
                  <a:schemeClr val="bg1"/>
                </a:solidFill>
                <a:latin typeface="Arial Black" panose="020B0A04020102020204" pitchFamily="34" charset="0"/>
              </a:rPr>
              <a:t>Campus </a:t>
            </a:r>
            <a:r>
              <a:rPr lang="en-IN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Updates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Scalability </a:t>
            </a:r>
            <a:r>
              <a:rPr lang="en-IN" sz="3200" dirty="0">
                <a:solidFill>
                  <a:schemeClr val="bg1"/>
                </a:solidFill>
                <a:latin typeface="Arial Black" panose="020B0A04020102020204" pitchFamily="34" charset="0"/>
              </a:rPr>
              <a:t>and Future </a:t>
            </a:r>
            <a:r>
              <a:rPr lang="en-IN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Enhancements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IN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Practical </a:t>
            </a:r>
            <a:r>
              <a:rPr lang="en-IN" sz="3200" dirty="0">
                <a:solidFill>
                  <a:schemeClr val="bg1"/>
                </a:solidFill>
                <a:latin typeface="Arial Black" panose="020B0A04020102020204" pitchFamily="34" charset="0"/>
              </a:rPr>
              <a:t>Applications &amp; Real-World </a:t>
            </a:r>
            <a:r>
              <a:rPr lang="en-IN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Impact</a:t>
            </a:r>
            <a:endParaRPr lang="en-US" sz="32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4"/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4"/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98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415025" y="-2784371"/>
            <a:ext cx="7109038" cy="643367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2473240" y="94781"/>
            <a:ext cx="5304325" cy="4800414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161192" y="3522178"/>
            <a:ext cx="4790294" cy="246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19"/>
              </a:lnSpc>
              <a:spcBef>
                <a:spcPct val="0"/>
              </a:spcBef>
            </a:pPr>
            <a:r>
              <a:rPr lang="en-US" sz="144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03357" y="3522178"/>
            <a:ext cx="3766351" cy="246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19"/>
              </a:lnSpc>
              <a:spcBef>
                <a:spcPct val="0"/>
              </a:spcBef>
            </a:pPr>
            <a:r>
              <a:rPr lang="en-US" sz="14442">
                <a:solidFill>
                  <a:srgbClr val="DE97FF"/>
                </a:solidFill>
                <a:latin typeface="Anton"/>
                <a:ea typeface="Anton"/>
                <a:cs typeface="Anton"/>
                <a:sym typeface="Anton"/>
              </a:rPr>
              <a:t>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2237</TotalTime>
  <Words>906</Words>
  <Application>Microsoft Office PowerPoint</Application>
  <PresentationFormat>Custom</PresentationFormat>
  <Paragraphs>116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Montserrat</vt:lpstr>
      <vt:lpstr>Arial</vt:lpstr>
      <vt:lpstr>Wingdings</vt:lpstr>
      <vt:lpstr>Arial Black</vt:lpstr>
      <vt:lpstr>Times New Roman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Ranjith Raja BS</dc:creator>
  <cp:lastModifiedBy>Ranjith Raja BS</cp:lastModifiedBy>
  <cp:revision>28</cp:revision>
  <dcterms:created xsi:type="dcterms:W3CDTF">2006-08-16T00:00:00Z</dcterms:created>
  <dcterms:modified xsi:type="dcterms:W3CDTF">2025-02-05T05:54:36Z</dcterms:modified>
  <dc:identifier>DAGeEO6gG4E</dc:identifier>
</cp:coreProperties>
</file>